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</c:v>
                </c:pt>
              </c:strCache>
            </c:strRef>
          </c:tx>
          <c:spPr>
            <a:solidFill>
              <a:srgbClr val="3333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82" u="none">
                    <a:solidFill>
                      <a:srgbClr val="000000"/>
                    </a:solidFill>
                    <a:latin typeface="Latin Modern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plain, TE</c:v>
                  </c:pt>
                  <c:pt idx="1">
                    <c:v>plain, TM</c:v>
                  </c:pt>
                  <c:pt idx="2">
                    <c:v>SiN post row, TM</c:v>
                  </c:pt>
                  <c:pt idx="3">
                    <c:v>air trench, half depth, TM</c:v>
                  </c:pt>
                  <c:pt idx="4">
                    <c:v>SiN post rows, TM</c:v>
                  </c:pt>
                  <c:pt idx="5">
                    <c:v>air trench, full depth, TM</c:v>
                  </c:pt>
                  <c:pt idx="6">
                    <c:v>lab overshoot, TM</c:v>
                  </c:pt>
                  <c:pt idx="7">
                    <c:v>inverse design, TM</c:v>
                  </c:pt>
                  <c:pt idx="8">
                    <c:v>lab overshoot, TE (projected)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12903</c:v>
                </c:pt>
                <c:pt idx="1">
                  <c:v>13930</c:v>
                </c:pt>
                <c:pt idx="2">
                  <c:v>16203</c:v>
                </c:pt>
                <c:pt idx="3">
                  <c:v>16942</c:v>
                </c:pt>
                <c:pt idx="4">
                  <c:v>18093</c:v>
                </c:pt>
                <c:pt idx="5">
                  <c:v>18777</c:v>
                </c:pt>
                <c:pt idx="6">
                  <c:v>35000</c:v>
                </c:pt>
                <c:pt idx="7">
                  <c:v>88868</c:v>
                </c:pt>
                <c:pt idx="8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82" u="none">
                  <a:solidFill>
                    <a:srgbClr val="000000"/>
                  </a:solidFill>
                  <a:latin typeface="Latin Modern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logBase val="10"/>
          <c:orientation val="minMax"/>
          <c:max val="1000000"/>
          <c:min val="10000"/>
        </c:scaling>
        <c:delete val="0"/>
        <c:axPos val="b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905" b="0" i="0" u="none" strike="noStrike">
                    <a:solidFill>
                      <a:srgbClr val="000000"/>
                    </a:solidFill>
                    <a:latin typeface="Latin Modern Sans"/>
                  </a:defRPr>
                </a:pPr>
                <a:r>
                  <a:rPr sz="1905" b="0" i="0" u="none" strike="noStrike">
                    <a:solidFill>
                      <a:srgbClr val="000000"/>
                    </a:solidFill>
                    <a:latin typeface="Latin Modern Sans"/>
                  </a:rPr>
                  <a:t>loaded Q (log scale)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000000"/>
            </a:solidFill>
            <a:prstDash val="solid"/>
            <a:round/>
          </a:ln>
        </c:spPr>
        <c:txPr>
          <a:bodyPr/>
          <a:lstStyle/>
          <a:p>
            <a:pPr>
              <a:defRPr sz="1693" b="0" i="0" u="none" strike="noStrike">
                <a:solidFill>
                  <a:srgbClr val="000000"/>
                </a:solidFill>
                <a:latin typeface="Latin Modern San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  <a:lvl2pPr algn="l" marL="893064" indent="-213360">
              <a:lnSpc>
                <a:spcPts val="2879"/>
              </a:lnSpc>
              <a:spcAft>
                <a:spcPts val="1207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Research Overview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𝜋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shift Bragg grating cavities for acousto optic sensing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Evyatar Rubin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335194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September 14,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Main 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Changing the teeth trades loss against mode width.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Structures beside the cavity reduce loss and leave the mode width unchanged.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 radiates in the propagation plane: a trench or a SiN post row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reduces its loss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TE does not.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 at fixed width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beats every hand tuned lever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still below the lab's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Reflectors, scatterers and in core structures </a:t>
            </a:r>
            <a:r>
              <a:rPr lang="en-US" sz="2328" dirty="0">
                <a:solidFill>
                  <a:srgbClr val="BF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do not help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Every lever reduces loss; only a few leave the mode width unchanged</a:t>
            </a:r>
            <a:endParaRPr lang="en-US" sz="3048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4242148"/>
        </p:xfrm>
        <a:graphic>
          <a:graphicData uri="http://schemas.openxmlformats.org/drawingml/2006/table">
            <a:tbl>
              <a:tblPr/>
              <a:tblGrid>
                <a:gridCol w="2912342"/>
                <a:gridCol w="1568448"/>
                <a:gridCol w="1969317"/>
                <a:gridCol w="2119036"/>
                <a:gridCol w="2708458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polarization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mode width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linear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tanh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less than linear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overshoot apodization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set by amplitude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lab's model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recycles the leak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innermost tooth shift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optimum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distributed small shifts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two tooth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particle swarm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wider cavity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air trench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deep etch needed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SiN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 lithography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inverse design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strongly reduced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8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unchanged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in progress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Reflectors, scatterers and in core structures do not help</a:t>
            </a:r>
            <a:endParaRPr lang="en-US" sz="3048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888636"/>
        </p:xfrm>
        <a:graphic>
          <a:graphicData uri="http://schemas.openxmlformats.org/drawingml/2006/table">
            <a:tbl>
              <a:tblPr/>
              <a:tblGrid>
                <a:gridCol w="2912342"/>
                <a:gridCol w="1568448"/>
                <a:gridCol w="2280252"/>
                <a:gridCol w="4516559"/>
              </a:tblGrid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direction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polarization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result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b="1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comments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Bragg or crystal walls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light never re couples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metal mirrors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same, plus absorption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retro reflecting post rows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beam misses the lobe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holes inside the core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resonance lost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bandgap destroyed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Kerker scatterers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extra scattering only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a second cavity alongside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power drains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drains to the neighbour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shaped trenches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worse than straight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straight wall is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exotic innermost teeth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TE, 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the leak is not local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Math" pitchFamily="34" charset="0"/>
                          <a:ea typeface="Latin Modern Math" pitchFamily="34" charset="-122"/>
                          <a:cs typeface="Latin Modern Math" pitchFamily="34" charset="-120"/>
                        </a:rPr>
                        <a:t>𝜋</a:t>
                      </a: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 shift spread over gaps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TM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BF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loss increased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lumped shift is optimal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3512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trench or post row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no effect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28"/>
                        </a:lnSpc>
                        <a:buNone/>
                      </a:pPr>
                      <a:r>
                        <a:rPr lang="en-US" sz="1905" dirty="0">
                          <a:solidFill>
                            <a:srgbClr val="000000"/>
                          </a:solidFill>
                          <a:latin typeface="Latin Modern Sans" pitchFamily="34" charset="0"/>
                          <a:ea typeface="Latin Modern Sans" pitchFamily="34" charset="-122"/>
                          <a:cs typeface="Latin Modern Sans" pitchFamily="34" charset="-120"/>
                        </a:rPr>
                        <a:t>TE radiates upward</a:t>
                      </a:r>
                      <a:endParaRPr lang="en-US" sz="1905" dirty="0">
                        <a:latin typeface="Latin Modern Sans" charset="0"/>
                        <a:ea typeface="Latin Modern Sans" charset="0"/>
                        <a:cs typeface="Latin Modern Sans" charset="0"/>
                      </a:endParaRPr>
                    </a:p>
                  </a:txBody>
                  <a:tcPr marL="108190" marR="10819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a 20 </a:t>
            </a:r>
            <a:r>
              <a:rPr lang="en-US" sz="304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 and a -3 dB peak</a:t>
            </a:r>
            <a:endParaRPr lang="en-US" sz="3048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2946391" y="1348740"/>
          <a:ext cx="6299220" cy="4199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70020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Each device lengthened until its peak is -3 dB at a 20 </a:t>
            </a:r>
            <a:r>
              <a:rPr lang="en-US" sz="1905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m mode. Lateral structures give about a third more </a:t>
            </a:r>
            <a:r>
              <a:rPr lang="en-US" sz="1905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inverse design about 6×; the TE overshoot bar is projected.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Details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TE, TE versus TM, TM levers, inverse design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apodization reduces loss and widens the mode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Linear apodization: loss reduced, mode much wider. Tanh: the same gain with less widening.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few apodized periods are enough; more add nothing.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lab's overshoot apodization is far stronger, and only its amplitude sets the mode width.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TE: shifting the innermost teeth recycles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Shifting the innermost teeth outward reduces loss with the mode width unchanged.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Light that would leak at the cavity is redirected into the mode; the far field collapses to one lobe.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two tooth particle swarm design gave the best transmission per width; fabricated devices confirmed the shift range.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TE versus TM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length: TM couples more weakly, so lower loss, lower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, wider mode.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Same peak transmission: TM is longer and its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is about three times higher.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At the operating point the plain gratings tie. TM radiates in the propagation plane, TE upward.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the teeth behave as in TE, but the shift works differently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Apodization reduces loss, widens the mode, and saturates.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large shift of the innermost teeth widens the mode and shows no optimum; TM does not recycle at the cavity.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Once apodization saturates, small shifts on many teeth </a:t>
            </a: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add further gain at fixed width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; the inverse design uses this.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trench reduces loss, a third more </a:t>
            </a:r>
            <a:r>
              <a:rPr lang="en-US" sz="304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benchmark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esearch_overview_deck_2026-09-13\build\trench_cross_section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2011052" y="1348740"/>
            <a:ext cx="8169897" cy="419948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70020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trench returns the in plane radiation by total internal reflection; the mode width is unchanged. A trench stopping at the core top keeps most of the gain in one lithography step.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TM: a row of SiN posts does the same, one lithography step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row is a weak grating: its period sets the beam angle,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clad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sin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𝜃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 = </a:t>
            </a:r>
            <a:r>
              <a:rPr lang="en-US" sz="2328" i="1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n</a:t>
            </a:r>
            <a:r>
              <a:rPr lang="en-US" sz="2328" baseline="-25000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eff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 − 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𝜆</a:t>
            </a:r>
            <a:r>
              <a:rPr lang="en-US" sz="2328" dirty="0">
                <a:solidFill>
                  <a:srgbClr val="000000"/>
                </a:solidFill>
                <a:latin typeface="Latin Modern Roman" pitchFamily="34" charset="0"/>
                <a:ea typeface="Latin Modern Roman" pitchFamily="34" charset="-122"/>
                <a:cs typeface="Latin Modern Roman" pitchFamily="34" charset="-120"/>
              </a:rPr>
              <a:t>/</a:t>
            </a:r>
            <a:r>
              <a:rPr lang="en-US" sz="2328" dirty="0">
                <a:solidFill>
                  <a:srgbClr val="000000"/>
                </a:solidFill>
                <a:latin typeface="Latin Modern Math" pitchFamily="34" charset="0"/>
                <a:ea typeface="Latin Modern Math" pitchFamily="34" charset="-122"/>
                <a:cs typeface="Latin Modern Math" pitchFamily="34" charset="-120"/>
              </a:rPr>
              <a:t>Λ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Aimed at the radiation lobe, sliding the row sets the phase: one phase cancels the lobe, the opposite grows it.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second row on the other side adds a few percent; a third adds nothing.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is optimized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3D adjoint optimization of the 25 innermost teeth per side (depth, width, shift), the cavity width and the post row, TM.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Objective: peak transmission. Constraints: the mode width and the resonance wavelength are held fixed.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Width penalties and second moment proxies failed; projecting each gradient step onto both constraints works.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Inverse design: what it found so far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Transmission rises steadily with the resonance and the mode width held.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design is a gentle rise in corrugation toward the arms, a mild overshoot.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The post row does not move when freed: its optimum is separable and set analytically.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8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About 6× the plain grating</a:t>
            </a: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 at the operating point, still below the lab's TE overshoot.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Next steps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11277601" cy="4901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Restart the inverse design with more free teeth.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Adapt the overshoot apodization model to TM and use it as the starting point.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3614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Latin Modern Sans" pitchFamily="34" charset="0"/>
                <a:ea typeface="Latin Modern Sans" pitchFamily="34" charset="-122"/>
                <a:cs typeface="Latin Modern Sans" pitchFamily="34" charset="-120"/>
              </a:rPr>
              <a:t>A TE lane seeded from the overshoot profile, where the larger gains are.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Latin Modern Sans"/>
                <a:ea typeface="Latin Modern Sans"/>
                <a:cs typeface="Latin Modern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15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atin Moder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in Moder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Overview</dc:title>
  <dc:subject>PptxGenJS Presentation</dc:subject>
  <dc:creator>Evyatar Rubin</dc:creator>
  <cp:lastModifiedBy>Evyatar Rubin</cp:lastModifiedBy>
  <cp:revision>1</cp:revision>
  <dcterms:created xsi:type="dcterms:W3CDTF">2026-09-14T10:48:37Z</dcterms:created>
  <dcterms:modified xsi:type="dcterms:W3CDTF">2026-09-14T10:48:37Z</dcterms:modified>
</cp:coreProperties>
</file>