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post row, TM</c:v>
                  </c:pt>
                  <c:pt idx="3">
                    <c:v>air trench, half depth, TM</c:v>
                  </c:pt>
                  <c:pt idx="4">
                    <c:v>SiN post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Bef>
                <a:spcPts val="1207"/>
              </a:spcBef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𝜋 Shift Grating: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10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π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for Acousto Optic Sensing: 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fixed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mode, and what does not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13,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Bottom line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3633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Benchmark: a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μ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lengthened to a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−3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 peak; compare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Changing the teeth trades loss against mode width; cavity and lateral structures do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sideways: a trench or SiN post row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by a third; TE does not respond.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 at fixed width: about 6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×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in progress, below the lab's overshoot.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Everything tried, and what it does</a:t>
            </a:r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7476"/>
          <a:ext cx="11277601" cy="4212689"/>
        </p:xfrm>
        <a:graphic>
          <a:graphicData uri="http://schemas.openxmlformats.org/drawingml/2006/table">
            <a:tbl>
              <a:tblPr/>
              <a:tblGrid>
                <a:gridCol w="3834384"/>
                <a:gridCol w="1353312"/>
                <a:gridCol w="1578864"/>
                <a:gridCol w="2029968"/>
                <a:gridCol w="2481072"/>
              </a:tblGrid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pol.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status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 a lot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 (lab)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 a lot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reference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slightly 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closed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25 tooth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down a lot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held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What does not work</a:t>
            </a:r>
            <a:endParaRPr lang="en-US" sz="3048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7476"/>
          <a:ext cx="11277601" cy="4212689"/>
        </p:xfrm>
        <a:graphic>
          <a:graphicData uri="http://schemas.openxmlformats.org/drawingml/2006/table">
            <a:tbl>
              <a:tblPr/>
              <a:tblGrid>
                <a:gridCol w="5187697"/>
                <a:gridCol w="1353312"/>
                <a:gridCol w="4736592"/>
              </a:tblGrid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pol.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result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Bragg or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retro reflecting post rows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holes inside the core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resonance lost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Huygens or Kerker scatterers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second cavity alongside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shaped trenches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worse than straight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𝜋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shift spread over gaps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up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297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trench or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6017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1163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All at a 20 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μ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−3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 peak, 350 nm SiN core. The TE overshoot bar is projected from its intrinsic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Q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not simulated at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1905">
                    <ns0:latin typeface="Cambria Math"/>
                  </ns0:rPr>
                  <m:t>−3</m:t>
                </m:r>
              </m:oMath>
            </a14:m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 dB.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Details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TE, TE versus TM, TM levers, inverse design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cuts loss and widens the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44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apodization: loss down, mode much wider. Tanh: same gain, less widening.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few apodized periods are enough; more add nothing.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overshoot apodization is stronger by far: only its amplitude sets the mode width.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shifting the innermost teeth recycles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811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 outward cuts loss; the mode width stays.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Light that would leak at the cavity is redirected into the mode;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two tooth particle swarm design gave the best transmission per width; fabricated devices confirmed the shift range.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44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length: TM couples more weakly, so less loss, lower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peak transmission: TM is longer and its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Q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 the plain gratings tie. TM radiates in the propagation plane, TE upward.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except the shift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44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Apodization: loss down, mode wider.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innermost shift widens the mode with no optimum; TM does not recycle at the cavity.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wider cavity cuts loss with the mode width unchanged.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an air trench raises 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3048">
                    <ns0:latin typeface="Cambria Math"/>
                  </ns0:rPr>
                  <m:t>Q</m:t>
                </m:r>
              </m:oMath>
            </a14:m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by a third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457200" y="2270689"/>
            <a:ext cx="6315457" cy="3246263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7077457" y="1287360"/>
            <a:ext cx="4657344" cy="2956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8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trench returns the in plane radiation by total internal reflection; the mode width is unchanged.</a:t>
            </a:r>
            <a:endParaRPr lang="en-US" sz="1905" dirty="0"/>
          </a:p>
          <a:p>
            <a:pPr algn="l" indent="0" marL="0">
              <a:lnSpc>
                <a:spcPts val="2328"/>
              </a:lnSpc>
              <a:spcBef>
                <a:spcPts val="2409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trench stopping at the core top keeps most of the gain in one lithography step.</a:t>
            </a:r>
            <a:endParaRPr lang="en-US" sz="1905" dirty="0"/>
          </a:p>
          <a:p>
            <a:pPr algn="l" indent="0" marL="0">
              <a:lnSpc>
                <a:spcPts val="2879"/>
              </a:lnSpc>
              <a:spcBef>
                <a:spcPts val="2409"/>
              </a:spcBef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deep etch conflicts with the PDMS cover, hence the post rows.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posts does the trench's job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44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row is a weak grating: its period sets the beam angle, </a:t>
            </a: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2328">
                        <ns0:latin typeface="Cambria Math"/>
                      </ns0:rPr>
                      <m:t>clad</m:t>
                    </m:r>
                  </m:sub>
                </m:sSub>
                <m:r>
                  <m:rPr>
                    <m:sty m:val="p"/>
                  </m:rPr>
                  <ns0:rPr xmlns:ns0="http://schemas.openxmlformats.org/drawingml/2006/main" lang="en-US" sz="2328">
                    <ns0:latin typeface="Cambria Math"/>
                  </ns0:rPr>
                  <m:t>sin</m:t>
                </m:r>
                <m:r>
                  <ns0:rPr xmlns:ns0="http://schemas.openxmlformats.org/drawingml/2006/main" lang="en-US" sz="2328">
                    <ns0:latin typeface="Cambria Math"/>
                  </ns0:rPr>
                  <m:t>θ=</m:t>
                </m:r>
                <m:sSub>
                  <m:e>
                    <m:r>
                      <ns0:rPr xmlns:ns0="http://schemas.openxmlformats.org/drawingml/2006/main" lang="en-US" sz="2328">
                        <ns0:latin typeface="Cambria Math"/>
                      </ns0:rPr>
                      <m:t>n</m:t>
                    </m:r>
                  </m:e>
                  <m:sub>
                    <m:r>
                      <m:rPr>
                        <m:sty m:val="p"/>
                      </m:rPr>
                      <ns0:rPr xmlns:ns0="http://schemas.openxmlformats.org/drawingml/2006/main" lang="en-US" sz="2328">
                        <ns0:latin typeface="Cambria Math"/>
                      </ns0:rPr>
                      <m:t>eff</m:t>
                    </m:r>
                  </m:sub>
                </m:sSub>
                <m:r>
                  <ns0:rPr xmlns:ns0="http://schemas.openxmlformats.org/drawingml/2006/main" lang="en-US" sz="2328">
                    <ns0:latin typeface="Cambria Math"/>
                  </ns0:rPr>
                  <m:t>−λ/Λ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Aimed at the radiation lobe, sliding the row sets the phase: one phase cancels the lobe, the opposite grows it.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adds a few percent; a third adds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in progress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39772"/>
            <a:ext cx="11277601" cy="244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473964" indent="-228600">
              <a:lnSpc>
                <a:spcPts val="2879"/>
              </a:lnSpc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Adjoint optimization of the 25 innermost teeth per side and the cavity, TM.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Peak transmission is maximized with the mode width and the resonance held fixed.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Bef>
                <a:spcPts val="3614"/>
              </a:spcBef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</a:t>
            </a:r>
            <a14:m xmlns:a14="http://schemas.microsoft.com/office/drawing/2010/main">
              <m:oMath xmlns:m="http://schemas.openxmlformats.org/officeDocument/2006/math">
                <m:r>
                  <ns0:rPr xmlns:ns0="http://schemas.openxmlformats.org/drawingml/2006/main" lang="en-US" sz="2328">
                    <ns0:latin typeface="Cambria Math"/>
                  </ns0:rPr>
                  <m:t>×</m:t>
                </m:r>
              </m:oMath>
            </a14:m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the plain grating so far. Next: more free teeth, then a TE run seeded from the overshoot profile.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13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$\pi$ Shift Grating: Overview</dc:title>
  <dc:subject>PptxGenJS Presentation</dc:subject>
  <dc:creator>Evyatar Rubin</dc:creator>
  <cp:lastModifiedBy>Evyatar Rubin</cp:lastModifiedBy>
  <cp:revision>1</cp:revision>
  <dcterms:created xsi:type="dcterms:W3CDTF">2026-09-13T18:28:04Z</dcterms:created>
  <dcterms:modified xsi:type="dcterms:W3CDTF">2026-09-13T18:28:04Z</dcterms:modified>
</cp:coreProperties>
</file>