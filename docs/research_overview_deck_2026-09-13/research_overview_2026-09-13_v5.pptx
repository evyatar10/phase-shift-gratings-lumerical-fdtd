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</c:v>
                </c:pt>
              </c:strCache>
            </c:strRef>
          </c:tx>
          <c:spPr>
            <a:solidFill>
              <a:srgbClr val="3333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82" u="none">
                    <a:solidFill>
                      <a:srgbClr val="000000"/>
                    </a:solidFill>
                    <a:latin typeface="Latin Moder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plain, TE</c:v>
                  </c:pt>
                  <c:pt idx="1">
                    <c:v>plain, TM</c:v>
                  </c:pt>
                  <c:pt idx="2">
                    <c:v>SiN post row, TM</c:v>
                  </c:pt>
                  <c:pt idx="3">
                    <c:v>air trench, half depth, TM</c:v>
                  </c:pt>
                  <c:pt idx="4">
                    <c:v>SiN post rows, TM</c:v>
                  </c:pt>
                  <c:pt idx="5">
                    <c:v>air trench, full depth, TM</c:v>
                  </c:pt>
                  <c:pt idx="6">
                    <c:v>lab overshoot, TM</c:v>
                  </c:pt>
                  <c:pt idx="7">
                    <c:v>inverse design, TM</c:v>
                  </c:pt>
                  <c:pt idx="8">
                    <c:v>lab overshoot, TE (projected)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12903</c:v>
                </c:pt>
                <c:pt idx="1">
                  <c:v>13930</c:v>
                </c:pt>
                <c:pt idx="2">
                  <c:v>16203</c:v>
                </c:pt>
                <c:pt idx="3">
                  <c:v>16942</c:v>
                </c:pt>
                <c:pt idx="4">
                  <c:v>18093</c:v>
                </c:pt>
                <c:pt idx="5">
                  <c:v>18777</c:v>
                </c:pt>
                <c:pt idx="6">
                  <c:v>35000</c:v>
                </c:pt>
                <c:pt idx="7">
                  <c:v>88868</c:v>
                </c:pt>
                <c:pt idx="8">
                  <c:v>250000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82" u="none">
                  <a:solidFill>
                    <a:srgbClr val="000000"/>
                  </a:solidFill>
                  <a:latin typeface="Latin Moder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logBase val="10"/>
          <c:orientation val="minMax"/>
          <c:max val="1000000"/>
          <c:min val="1000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905" b="0" i="0" u="none" strike="noStrike">
                    <a:solidFill>
                      <a:srgbClr val="000000"/>
                    </a:solidFill>
                    <a:latin typeface="Latin Modern Sans"/>
                  </a:defRPr>
                </a:pPr>
                <a:r>
                  <a:rPr sz="1905" b="0" i="0" u="none" strike="noStrike">
                    <a:solidFill>
                      <a:srgbClr val="000000"/>
                    </a:solidFill>
                    <a:latin typeface="Latin Modern Sans"/>
                  </a:rPr>
                  <a:t>loaded Q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93548" y="1283970"/>
            <a:ext cx="11804905" cy="1425702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193548" y="1341120"/>
            <a:ext cx="118049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93548" y="208026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subtitle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3548" y="3162300"/>
            <a:ext cx="118049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Author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93548" y="464820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457200" y="2286000"/>
            <a:ext cx="112776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Section heading</a:t>
            </a:r>
            <a:endParaRPr lang="en-US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57200" y="3352800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3140"/>
              </a:lnSpc>
              <a:buNone/>
              <a:defRPr sz="254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Subheading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324601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324601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324601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457200" y="5829301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Note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676656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7449313" y="1348740"/>
            <a:ext cx="4285488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6324601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Stack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457200" y="336042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1" hdr="0" ftr="0" dt="0"/>
  <p:txStyles>
    <p:titleStyle>
      <a:lvl1pPr algn="l" defTabSz="914400" rtl="0" eaLnBrk="1" latinLnBrk="0" hangingPunct="1"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3964" indent="-228600" algn="l" defTabSz="914400" rtl="0" eaLnBrk="1" latinLnBrk="0" hangingPunct="1">
        <a:spcBef>
          <a:spcPct val="20000"/>
        </a:spcBef>
        <a:buClr>
          <a:srgbClr val="3333B3"/>
        </a:buClr>
        <a:buSzPct val="80000"/>
        <a:buFont typeface="Arial" pitchFamily="34" charset="0"/>
        <a:buChar char="●"/>
        <a:defRPr sz="2328" kern="1200">
          <a:solidFill>
            <a:schemeClr val="tx1"/>
          </a:solidFill>
          <a:latin typeface="+mn-lt"/>
          <a:ea typeface="+mn-ea"/>
          <a:cs typeface="+mn-cs"/>
        </a:defRPr>
      </a:lvl1pPr>
      <a:lvl2pPr marL="893064" indent="-213360" algn="l" defTabSz="914400" rtl="0" eaLnBrk="1" latinLnBrk="0" hangingPunct="1">
        <a:spcBef>
          <a:spcPct val="20000"/>
        </a:spcBef>
        <a:buClr>
          <a:srgbClr val="3333B3"/>
        </a:buClr>
        <a:buSzPct val="70000"/>
        <a:buFont typeface="Arial" pitchFamily="34" charset="0"/>
        <a:buChar char="▸"/>
        <a:defRPr sz="2328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48" y="1283970"/>
            <a:ext cx="11804905" cy="1425702"/>
          </a:xfrm>
          <a:prstGeom prst="roundRect">
            <a:avLst>
              <a:gd name="adj" fmla="val 7483"/>
            </a:avLst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  <a:effectLst>
            <a:outerShdw sx="100000" sy="100000" kx="0" ky="0" algn="bl" rotWithShape="0" blurRad="50800" dist="30480" dir="5400000">
              <a:srgbClr val="000000">
                <a:alpha val="45000"/>
              </a:srgbClr>
            </a:outerShdw>
          </a:effectLst>
        </p:spPr>
      </p:sp>
      <p:sp>
        <p:nvSpPr>
          <p:cNvPr id="3" name="Text 7"/>
          <p:cNvSpPr txBox="1"/>
          <p:nvPr>
            <p:ph idx="107" type="title" hasCustomPrompt="1"/>
          </p:nvPr>
        </p:nvSpPr>
        <p:spPr>
          <a:xfrm>
            <a:off x="193548" y="1479595"/>
            <a:ext cx="11804905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3048" dirty="0"/>
          </a:p>
        </p:txBody>
      </p:sp>
      <p:sp>
        <p:nvSpPr>
          <p:cNvPr id="4" name="Text 7"/>
          <p:cNvSpPr txBox="1"/>
          <p:nvPr>
            <p:ph idx="108" type="body" hasCustomPrompt="1"/>
          </p:nvPr>
        </p:nvSpPr>
        <p:spPr>
          <a:xfrm>
            <a:off x="193548" y="2048432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𝜋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cavities for acousto optic sensing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09" type="body" hasCustomPrompt="1"/>
          </p:nvPr>
        </p:nvSpPr>
        <p:spPr>
          <a:xfrm>
            <a:off x="193548" y="3192194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0" type="body" hasCustomPrompt="1"/>
          </p:nvPr>
        </p:nvSpPr>
        <p:spPr>
          <a:xfrm>
            <a:off x="193548" y="4335194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Main conclusions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011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Changing the teeth trades loss against mode width.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011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Structures beside the cavity reduce loss and leave the mode width unchanged.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011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 radiates in the propagation plane: a trench or a SiN post row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reduces its loss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; TE does not.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011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 at fixed width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beats every hand tuned lever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still below the lab's overshoot.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011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Reflectors, scatterers and in core structures </a:t>
            </a:r>
            <a:r>
              <a:rPr lang="en-US" sz="2328" dirty="0">
                <a:solidFill>
                  <a:srgbClr val="BF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do not help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Every lever reduces loss; only a few leave the mode width unchanged</a:t>
            </a:r>
            <a:endParaRPr lang="en-US" sz="3048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72746"/>
          <a:ext cx="11277601" cy="4242148"/>
        </p:xfrm>
        <a:graphic>
          <a:graphicData uri="http://schemas.openxmlformats.org/drawingml/2006/table">
            <a:tbl>
              <a:tblPr/>
              <a:tblGrid>
                <a:gridCol w="2819400"/>
                <a:gridCol w="1691640"/>
                <a:gridCol w="2142744"/>
                <a:gridCol w="2255520"/>
                <a:gridCol w="2368296"/>
              </a:tblGrid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polarization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mode width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comments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linear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tanh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less than linear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overshoot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set by amplitude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lab's model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recycles the leak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optimum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distributed small shifts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inverse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two tooth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wider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particle swarm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wider cavity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air trench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deep etch needed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post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 lithography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25 tooth inverse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progress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Reflectors, scatterers and in core structures do not help</a:t>
            </a:r>
            <a:endParaRPr lang="en-US" sz="3048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9502"/>
          <a:ext cx="11277601" cy="3888636"/>
        </p:xfrm>
        <a:graphic>
          <a:graphicData uri="http://schemas.openxmlformats.org/drawingml/2006/table">
            <a:tbl>
              <a:tblPr/>
              <a:tblGrid>
                <a:gridCol w="3496056"/>
                <a:gridCol w="1691640"/>
                <a:gridCol w="2593848"/>
                <a:gridCol w="3496056"/>
              </a:tblGrid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polarization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result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comments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Bragg or crystal walls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light never re couples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metal mirrors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same, plus absorption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retro reflecting post rows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beam misses the lobe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holes inside the core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resonance lost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bandgap destroyed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Huygens or Kerker scatterers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extra scattering only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 second cavity alongside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power drains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drains to the neighbour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shaped trenches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worse than straight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 straight wall is optimal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exotic innermost teeth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the leak is not local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𝜋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shift spread over gaps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lumped shift is optimal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trench or post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 radiates upward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a 20 </a:t>
            </a:r>
            <a:r>
              <a:rPr lang="en-US" sz="304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 and a -3 dB peak</a:t>
            </a:r>
            <a:endParaRPr lang="en-US" sz="3048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946391" y="1360170"/>
          <a:ext cx="6299220" cy="4199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1163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Each device lengthened until its peak is -3 dB at a 20 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mode. Lateral structures give about a third more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inverse design about 6×; the TE overshoot bar is projected.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Details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TE, TE versus TM, TM levers, inverse design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apodization reduces loss and widens the mode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Linear apodization: loss reduced, mode much wider. Tanh: the same gain with less widening.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few apodized periods are enough; more add nothing.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lab's overshoot apodization is far stronger, and only its amplitude sets the mode width.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shifting the innermost teeth recycles the leak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Shifting the innermost teeth outward reduces loss with the mode width unchanged.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Light that would leak at the cavity is redirected into the mode; the far field collapses to one lobe.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two tooth particle swarm design gave the best transmission per width; fabricated devices confirmed the shift range.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 versus TM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Same length: TM couples more weakly, so lower loss, lower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wider mode.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Same peak transmission: TM is longer and its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about three times higher.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the operating point the plain gratings tie. TM radiates in the propagation plane, TE upward.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the teeth behave as in TE, but the shift works differently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Apodization reduces loss, widens the mode, and saturates.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large shift of the innermost teeth widens the mode and shows no optimum; TM does not recycle at the cavity.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Once apodization saturates, small shifts on many teeth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add further gain at fixed width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; the inverse design uses this.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trench reduces loss, a third more </a:t>
            </a: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benchmark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esearch_overview_deck_2026-09-13\build\trench_cross_section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2011052" y="1360170"/>
            <a:ext cx="8169897" cy="419948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71163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trench returns the in plane radiation by total internal reflection; the mode width is unchanged. A trench stopping at the core top keeps most of the gain in one lithography step.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row of SiN posts does the same, one lithography step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row is a weak grating: its period sets the beam angle,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2328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clad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 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sin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𝜃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 =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2328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eff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 − 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𝜆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/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Λ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Aimed at the radiation lobe, sliding the row sets the phase: one phase cancels the lobe, the opposite grows it.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second row on the other side adds a few percent; a third adds nothing.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what is optimized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3D adjoint optimization of the 25 innermost teeth per side (depth, width, shift), the cavity width and the post row, TM.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Objective: peak transmission. Constraints: the mode width and the resonance wavelength are held fixed.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Width penalties and second moment proxies failed; projecting each gradient step onto both constraints works.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what it found so far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Transmission rises steadily with the resonance and the mode width held.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design is a gentle rise in corrugation toward the arms, a mild overshoot.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post row does not move when freed: its optimum is separable and set analytically.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About 6× the plain grating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operating point, still below the lab's TE overshoot.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Next steps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Restart the inverse design with more free teeth.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Adapt the overshoot apodization model to TM and use it as the starting point.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TE lane seeded from the overshoot profile, where the larger gains are.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in Moder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in Moder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Overview</dc:title>
  <dc:subject>PptxGenJS Presentation</dc:subject>
  <dc:creator>Evyatar Rubin</dc:creator>
  <cp:lastModifiedBy>Evyatar Rubin</cp:lastModifiedBy>
  <cp:revision>1</cp:revision>
  <dcterms:created xsi:type="dcterms:W3CDTF">2026-09-14T10:35:08Z</dcterms:created>
  <dcterms:modified xsi:type="dcterms:W3CDTF">2026-09-14T10:35:08Z</dcterms:modified>
</cp:coreProperties>
</file>