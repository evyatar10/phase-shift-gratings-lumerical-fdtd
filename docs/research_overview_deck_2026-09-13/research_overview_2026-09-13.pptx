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</c:v>
                </c:pt>
              </c:strCache>
            </c:strRef>
          </c:tx>
          <c:spPr>
            <a:solidFill>
              <a:srgbClr val="3333B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82" u="none">
                    <a:solidFill>
                      <a:srgbClr val="000000"/>
                    </a:solidFill>
                    <a:latin typeface="Latin Modern Sa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plain (TE)</c:v>
                  </c:pt>
                  <c:pt idx="1">
                    <c:v>plain (TM)</c:v>
                  </c:pt>
                  <c:pt idx="2">
                    <c:v>circle row 57 (TM)</c:v>
                  </c:pt>
                  <c:pt idx="3">
                    <c:v>half trench (TM)</c:v>
                  </c:pt>
                  <c:pt idx="4">
                    <c:v>circle row 61 (TM)</c:v>
                  </c:pt>
                  <c:pt idx="5">
                    <c:v>circle pair (TM)</c:v>
                  </c:pt>
                  <c:pt idx="6">
                    <c:v>full trench (TM)</c:v>
                  </c:pt>
                  <c:pt idx="7">
                    <c:v>TM overshoot</c:v>
                  </c:pt>
                  <c:pt idx="8">
                    <c:v>inverse design (TM)</c:v>
                  </c:pt>
                  <c:pt idx="9">
                    <c:v>TE overshoot (proj.)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12903</c:v>
                </c:pt>
                <c:pt idx="1">
                  <c:v>13930</c:v>
                </c:pt>
                <c:pt idx="2">
                  <c:v>16203</c:v>
                </c:pt>
                <c:pt idx="3">
                  <c:v>16942</c:v>
                </c:pt>
                <c:pt idx="4">
                  <c:v>17557</c:v>
                </c:pt>
                <c:pt idx="5">
                  <c:v>18093</c:v>
                </c:pt>
                <c:pt idx="6">
                  <c:v>18777</c:v>
                </c:pt>
                <c:pt idx="7">
                  <c:v>35000</c:v>
                </c:pt>
                <c:pt idx="8">
                  <c:v>88868</c:v>
                </c:pt>
                <c:pt idx="9">
                  <c:v>270000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82" u="none">
                  <a:solidFill>
                    <a:srgbClr val="000000"/>
                  </a:solidFill>
                  <a:latin typeface="Latin Modern Sa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000000"/>
            </a:solidFill>
            <a:prstDash val="solid"/>
            <a:round/>
          </a:ln>
        </c:spPr>
        <c:txPr>
          <a:bodyPr/>
          <a:lstStyle/>
          <a:p>
            <a:pPr>
              <a:defRPr sz="1693" b="0" i="0" u="none" strike="noStrike">
                <a:solidFill>
                  <a:srgbClr val="000000"/>
                </a:solidFill>
                <a:latin typeface="Latin Modern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logBase val="10"/>
          <c:orientation val="minMax"/>
          <c:max val="1000000"/>
          <c:min val="10000"/>
        </c:scaling>
        <c:delete val="0"/>
        <c:axPos val="b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905" b="0" i="0" u="none" strike="noStrike">
                    <a:solidFill>
                      <a:srgbClr val="000000"/>
                    </a:solidFill>
                    <a:latin typeface="Latin Modern Sans"/>
                  </a:defRPr>
                </a:pPr>
                <a:r>
                  <a:rPr sz="1905" b="0" i="0" u="none" strike="noStrike">
                    <a:solidFill>
                      <a:srgbClr val="000000"/>
                    </a:solidFill>
                    <a:latin typeface="Latin Modern Sans"/>
                  </a:rPr>
                  <a:t>loaded Q (log scale)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000000"/>
            </a:solidFill>
            <a:prstDash val="solid"/>
            <a:round/>
          </a:ln>
        </c:spPr>
        <c:txPr>
          <a:bodyPr/>
          <a:lstStyle/>
          <a:p>
            <a:pPr>
              <a:defRPr sz="1693" b="0" i="0" u="none" strike="noStrike">
                <a:solidFill>
                  <a:srgbClr val="000000"/>
                </a:solidFill>
                <a:latin typeface="Latin Modern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6" name="Text 4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𝜋 Shift Grating: Overview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September 13, 2026</a:t>
            </a:r>
            <a:endParaRPr lang="en-US" sz="1270" dirty="0"/>
          </a:p>
        </p:txBody>
      </p:sp>
      <p:sp>
        <p:nvSpPr>
          <p:cNvPr id="8" name="Shape 6"/>
          <p:cNvSpPr/>
          <p:nvPr/>
        </p:nvSpPr>
        <p:spPr>
          <a:xfrm>
            <a:off x="193548" y="1283970"/>
            <a:ext cx="11804905" cy="1425702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193548" y="1341120"/>
            <a:ext cx="11804905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ctr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10" name="Text 7"/>
          <p:cNvSpPr/>
          <p:nvPr>
            <p:ph idx="108" type="body" hasCustomPrompt="1"/>
          </p:nvPr>
        </p:nvSpPr>
        <p:spPr>
          <a:xfrm>
            <a:off x="193548" y="2080260"/>
            <a:ext cx="1180490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ctr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subtitle</a:t>
            </a:r>
            <a:endParaRPr lang="en-US" dirty="0"/>
          </a:p>
        </p:txBody>
      </p:sp>
      <p:sp>
        <p:nvSpPr>
          <p:cNvPr id="11" name="Text 7"/>
          <p:cNvSpPr/>
          <p:nvPr>
            <p:ph idx="109" type="body" hasCustomPrompt="1"/>
          </p:nvPr>
        </p:nvSpPr>
        <p:spPr>
          <a:xfrm>
            <a:off x="193548" y="3162300"/>
            <a:ext cx="1180490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ctr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Author</a:t>
            </a:r>
            <a:endParaRPr lang="en-US" dirty="0"/>
          </a:p>
        </p:txBody>
      </p:sp>
      <p:sp>
        <p:nvSpPr>
          <p:cNvPr id="12" name="Text 7"/>
          <p:cNvSpPr/>
          <p:nvPr>
            <p:ph idx="110" type="body" hasCustomPrompt="1"/>
          </p:nvPr>
        </p:nvSpPr>
        <p:spPr>
          <a:xfrm>
            <a:off x="193548" y="4648200"/>
            <a:ext cx="1180490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ctr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Date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914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𝜋 Shift Grating: Overview</a:t>
            </a:r>
            <a:endParaRPr lang="en-US" sz="1270" dirty="0"/>
          </a:p>
        </p:txBody>
      </p:sp>
      <p:sp>
        <p:nvSpPr>
          <p:cNvPr id="8" name="Text 6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September 13, 2026</a:t>
            </a:r>
            <a:endParaRPr lang="en-US" sz="127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10" name="Text 7"/>
          <p:cNvSpPr/>
          <p:nvPr>
            <p:ph idx="108" type="body" hasCustomPrompt="1"/>
          </p:nvPr>
        </p:nvSpPr>
        <p:spPr>
          <a:xfrm>
            <a:off x="457200" y="1348740"/>
            <a:ext cx="11277601" cy="5090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473964" indent="-228600">
              <a:lnSpc>
                <a:spcPts val="2879"/>
              </a:lnSpc>
              <a:spcBef>
                <a:spcPts val="1207"/>
              </a:spcBef>
              <a:buClr>
                <a:srgbClr val="3333B3"/>
              </a:buClr>
              <a:buSzPct val="80000"/>
              <a:buFont typeface="Arial" pitchFamily="34" charset="0"/>
              <a:buChar char="●"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  <a:lvl2pPr algn="l" marL="893064" indent="-213360">
              <a:lnSpc>
                <a:spcPts val="2879"/>
              </a:lnSpc>
              <a:spcBef>
                <a:spcPts val="1207"/>
              </a:spcBef>
              <a:buClr>
                <a:srgbClr val="3333B3"/>
              </a:buClr>
              <a:buSzPct val="70000"/>
              <a:buFont typeface="Arial" pitchFamily="34" charset="0"/>
              <a:buChar char="▸"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2pPr>
          </a:lstStyle>
          <a:p>
            <a:r>
              <a:rPr lang="en-US" dirty="0">
                <a:solidFill>
                  <a:srgbClr val="000000"/>
                </a:solidFill>
              </a:rPr>
              <a:t>Click to add text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6" name="Text 4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𝜋 Shift Grating: Overview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September 13, 2026</a:t>
            </a:r>
            <a:endParaRPr lang="en-US" sz="1270" dirty="0"/>
          </a:p>
        </p:txBody>
      </p:sp>
      <p:sp>
        <p:nvSpPr>
          <p:cNvPr id="8" name="Text 6"/>
          <p:cNvSpPr/>
          <p:nvPr>
            <p:ph idx="106" type="title" hasCustomPrompt="1"/>
          </p:nvPr>
        </p:nvSpPr>
        <p:spPr>
          <a:xfrm>
            <a:off x="457200" y="2286000"/>
            <a:ext cx="1127760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ctr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Section heading</a:t>
            </a:r>
            <a:endParaRPr lang="en-US" dirty="0"/>
          </a:p>
        </p:txBody>
      </p:sp>
      <p:sp>
        <p:nvSpPr>
          <p:cNvPr id="9" name="Text 6"/>
          <p:cNvSpPr/>
          <p:nvPr>
            <p:ph idx="107" type="body" hasCustomPrompt="1"/>
          </p:nvPr>
        </p:nvSpPr>
        <p:spPr>
          <a:xfrm>
            <a:off x="457200" y="3352800"/>
            <a:ext cx="11277601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ctr" marL="0" indent="0">
              <a:lnSpc>
                <a:spcPts val="3140"/>
              </a:lnSpc>
              <a:buNone/>
              <a:defRPr sz="254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Subheading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914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𝜋 Shift Grating: Overview</a:t>
            </a:r>
            <a:endParaRPr lang="en-US" sz="1270" dirty="0"/>
          </a:p>
        </p:txBody>
      </p:sp>
      <p:sp>
        <p:nvSpPr>
          <p:cNvPr id="8" name="Text 6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September 13, 2026</a:t>
            </a:r>
            <a:endParaRPr lang="en-US" sz="127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10" name="Text 7"/>
          <p:cNvSpPr/>
          <p:nvPr>
            <p:ph idx="108" type="body" hasCustomPrompt="1"/>
          </p:nvPr>
        </p:nvSpPr>
        <p:spPr>
          <a:xfrm>
            <a:off x="457200" y="1348740"/>
            <a:ext cx="5410201" cy="5090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473964" indent="-228600">
              <a:lnSpc>
                <a:spcPts val="2879"/>
              </a:lnSpc>
              <a:spcBef>
                <a:spcPts val="1207"/>
              </a:spcBef>
              <a:buClr>
                <a:srgbClr val="3333B3"/>
              </a:buClr>
              <a:buSzPct val="80000"/>
              <a:buFont typeface="Arial" pitchFamily="34" charset="0"/>
              <a:buChar char="●"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  <a:lvl2pPr algn="l" marL="893064" indent="-213360">
              <a:lnSpc>
                <a:spcPts val="2879"/>
              </a:lnSpc>
              <a:spcBef>
                <a:spcPts val="1207"/>
              </a:spcBef>
              <a:buClr>
                <a:srgbClr val="3333B3"/>
              </a:buClr>
              <a:buSzPct val="70000"/>
              <a:buFont typeface="Arial" pitchFamily="34" charset="0"/>
              <a:buChar char="▸"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2pPr>
          </a:lstStyle>
          <a:p>
            <a:r>
              <a:rPr lang="en-US" dirty="0">
                <a:solidFill>
                  <a:srgbClr val="000000"/>
                </a:solidFill>
              </a:rPr>
              <a:t>Click to add text</a:t>
            </a:r>
            <a:endParaRPr lang="en-US" dirty="0"/>
          </a:p>
        </p:txBody>
      </p:sp>
      <p:sp>
        <p:nvSpPr>
          <p:cNvPr id="11" name="Text 7"/>
          <p:cNvSpPr/>
          <p:nvPr>
            <p:ph idx="109" type="body" hasCustomPrompt="1"/>
          </p:nvPr>
        </p:nvSpPr>
        <p:spPr>
          <a:xfrm>
            <a:off x="6324601" y="1348740"/>
            <a:ext cx="5410201" cy="5090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473964" indent="-228600">
              <a:lnSpc>
                <a:spcPts val="2879"/>
              </a:lnSpc>
              <a:spcBef>
                <a:spcPts val="1207"/>
              </a:spcBef>
              <a:buClr>
                <a:srgbClr val="3333B3"/>
              </a:buClr>
              <a:buSzPct val="80000"/>
              <a:buFont typeface="Arial" pitchFamily="34" charset="0"/>
              <a:buChar char="●"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  <a:lvl2pPr algn="l" marL="893064" indent="-213360">
              <a:lnSpc>
                <a:spcPts val="2879"/>
              </a:lnSpc>
              <a:spcBef>
                <a:spcPts val="1207"/>
              </a:spcBef>
              <a:buClr>
                <a:srgbClr val="3333B3"/>
              </a:buClr>
              <a:buSzPct val="70000"/>
              <a:buFont typeface="Arial" pitchFamily="34" charset="0"/>
              <a:buChar char="▸"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2pPr>
          </a:lstStyle>
          <a:p>
            <a:r>
              <a:rPr lang="en-US" dirty="0">
                <a:solidFill>
                  <a:srgbClr val="000000"/>
                </a:solidFill>
              </a:rPr>
              <a:t>Click to add text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914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𝜋 Shift Grating: Overview</a:t>
            </a:r>
            <a:endParaRPr lang="en-US" sz="1270" dirty="0"/>
          </a:p>
        </p:txBody>
      </p:sp>
      <p:sp>
        <p:nvSpPr>
          <p:cNvPr id="8" name="Text 6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September 13, 2026</a:t>
            </a:r>
            <a:endParaRPr lang="en-US" sz="127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10" name="Text 7"/>
          <p:cNvSpPr/>
          <p:nvPr>
            <p:ph idx="108" type="body" hasCustomPrompt="1"/>
          </p:nvPr>
        </p:nvSpPr>
        <p:spPr>
          <a:xfrm>
            <a:off x="457200" y="1348740"/>
            <a:ext cx="541020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879"/>
              </a:lnSpc>
              <a:buNone/>
              <a:defRPr sz="2328" b="1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Heading</a:t>
            </a:r>
            <a:endParaRPr lang="en-US" dirty="0"/>
          </a:p>
        </p:txBody>
      </p:sp>
      <p:sp>
        <p:nvSpPr>
          <p:cNvPr id="11" name="Text 7"/>
          <p:cNvSpPr/>
          <p:nvPr>
            <p:ph idx="109" type="body" hasCustomPrompt="1"/>
          </p:nvPr>
        </p:nvSpPr>
        <p:spPr>
          <a:xfrm>
            <a:off x="457200" y="1996440"/>
            <a:ext cx="5410201" cy="3680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473964" indent="-228600">
              <a:lnSpc>
                <a:spcPts val="2879"/>
              </a:lnSpc>
              <a:spcBef>
                <a:spcPts val="1207"/>
              </a:spcBef>
              <a:buClr>
                <a:srgbClr val="3333B3"/>
              </a:buClr>
              <a:buSzPct val="80000"/>
              <a:buFont typeface="Arial" pitchFamily="34" charset="0"/>
              <a:buChar char="●"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  <a:lvl2pPr algn="l" marL="893064" indent="-213360">
              <a:lnSpc>
                <a:spcPts val="2879"/>
              </a:lnSpc>
              <a:spcBef>
                <a:spcPts val="1207"/>
              </a:spcBef>
              <a:buClr>
                <a:srgbClr val="3333B3"/>
              </a:buClr>
              <a:buSzPct val="70000"/>
              <a:buFont typeface="Arial" pitchFamily="34" charset="0"/>
              <a:buChar char="▸"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2pPr>
          </a:lstStyle>
          <a:p>
            <a:r>
              <a:rPr lang="en-US" dirty="0">
                <a:solidFill>
                  <a:srgbClr val="000000"/>
                </a:solidFill>
              </a:rPr>
              <a:t>Click to add text</a:t>
            </a:r>
            <a:endParaRPr lang="en-US" dirty="0"/>
          </a:p>
        </p:txBody>
      </p:sp>
      <p:sp>
        <p:nvSpPr>
          <p:cNvPr id="12" name="Text 7"/>
          <p:cNvSpPr/>
          <p:nvPr>
            <p:ph idx="110" type="body" hasCustomPrompt="1"/>
          </p:nvPr>
        </p:nvSpPr>
        <p:spPr>
          <a:xfrm>
            <a:off x="6324601" y="1348740"/>
            <a:ext cx="541020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879"/>
              </a:lnSpc>
              <a:buNone/>
              <a:defRPr sz="2328" b="1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Heading</a:t>
            </a:r>
            <a:endParaRPr lang="en-US" dirty="0"/>
          </a:p>
        </p:txBody>
      </p:sp>
      <p:sp>
        <p:nvSpPr>
          <p:cNvPr id="13" name="Text 7"/>
          <p:cNvSpPr/>
          <p:nvPr>
            <p:ph idx="111" type="body" hasCustomPrompt="1"/>
          </p:nvPr>
        </p:nvSpPr>
        <p:spPr>
          <a:xfrm>
            <a:off x="6324601" y="1996440"/>
            <a:ext cx="5410201" cy="3680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473964" indent="-228600">
              <a:lnSpc>
                <a:spcPts val="2879"/>
              </a:lnSpc>
              <a:spcBef>
                <a:spcPts val="1207"/>
              </a:spcBef>
              <a:buClr>
                <a:srgbClr val="3333B3"/>
              </a:buClr>
              <a:buSzPct val="80000"/>
              <a:buFont typeface="Arial" pitchFamily="34" charset="0"/>
              <a:buChar char="●"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  <a:lvl2pPr algn="l" marL="893064" indent="-213360">
              <a:lnSpc>
                <a:spcPts val="2879"/>
              </a:lnSpc>
              <a:spcBef>
                <a:spcPts val="1207"/>
              </a:spcBef>
              <a:buClr>
                <a:srgbClr val="3333B3"/>
              </a:buClr>
              <a:buSzPct val="70000"/>
              <a:buFont typeface="Arial" pitchFamily="34" charset="0"/>
              <a:buChar char="▸"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2pPr>
          </a:lstStyle>
          <a:p>
            <a:r>
              <a:rPr lang="en-US" dirty="0">
                <a:solidFill>
                  <a:srgbClr val="000000"/>
                </a:solidFill>
              </a:rPr>
              <a:t>Click to add text</a:t>
            </a:r>
            <a:endParaRPr lang="en-US" dirty="0"/>
          </a:p>
        </p:txBody>
      </p:sp>
      <p:sp>
        <p:nvSpPr>
          <p:cNvPr id="14" name="Text 7"/>
          <p:cNvSpPr/>
          <p:nvPr>
            <p:ph idx="112" type="body" hasCustomPrompt="1"/>
          </p:nvPr>
        </p:nvSpPr>
        <p:spPr>
          <a:xfrm>
            <a:off x="457200" y="5829301"/>
            <a:ext cx="11277601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355"/>
              </a:lnSpc>
              <a:buNone/>
              <a:defRPr sz="1905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Note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914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𝜋 Shift Grating: Overview</a:t>
            </a:r>
            <a:endParaRPr lang="en-US" sz="1270" dirty="0"/>
          </a:p>
        </p:txBody>
      </p:sp>
      <p:sp>
        <p:nvSpPr>
          <p:cNvPr id="8" name="Text 6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September 13, 2026</a:t>
            </a:r>
            <a:endParaRPr lang="en-US" sz="127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6" name="Text 4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𝜋 Shift Grating: Overview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September 13, 2026</a:t>
            </a:r>
            <a:endParaRPr lang="en-US" sz="12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914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𝜋 Shift Grating: Overview</a:t>
            </a:r>
            <a:endParaRPr lang="en-US" sz="1270" dirty="0"/>
          </a:p>
        </p:txBody>
      </p:sp>
      <p:sp>
        <p:nvSpPr>
          <p:cNvPr id="8" name="Text 6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September 13, 2026</a:t>
            </a:r>
            <a:endParaRPr lang="en-US" sz="127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10" name="Text 7"/>
          <p:cNvSpPr/>
          <p:nvPr>
            <p:ph idx="108" type="pic" hasCustomPrompt="1"/>
          </p:nvPr>
        </p:nvSpPr>
        <p:spPr>
          <a:xfrm>
            <a:off x="457200" y="1348740"/>
            <a:ext cx="11277601" cy="3870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icon to add picture</a:t>
            </a:r>
            <a:endParaRPr lang="en-US" dirty="0"/>
          </a:p>
        </p:txBody>
      </p:sp>
      <p:sp>
        <p:nvSpPr>
          <p:cNvPr id="11" name="Text 7"/>
          <p:cNvSpPr/>
          <p:nvPr>
            <p:ph idx="109" type="body" hasCustomPrompt="1"/>
          </p:nvPr>
        </p:nvSpPr>
        <p:spPr>
          <a:xfrm>
            <a:off x="457200" y="5372101"/>
            <a:ext cx="11277601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355"/>
              </a:lnSpc>
              <a:buNone/>
              <a:defRPr sz="1905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caption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gur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914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𝜋 Shift Grating: Overview</a:t>
            </a:r>
            <a:endParaRPr lang="en-US" sz="1270" dirty="0"/>
          </a:p>
        </p:txBody>
      </p:sp>
      <p:sp>
        <p:nvSpPr>
          <p:cNvPr id="8" name="Text 6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September 13, 2026</a:t>
            </a:r>
            <a:endParaRPr lang="en-US" sz="127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10" name="Text 7"/>
          <p:cNvSpPr/>
          <p:nvPr>
            <p:ph idx="108" type="pic" hasCustomPrompt="1"/>
          </p:nvPr>
        </p:nvSpPr>
        <p:spPr>
          <a:xfrm>
            <a:off x="457200" y="1348740"/>
            <a:ext cx="6766561" cy="5090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icon to add picture</a:t>
            </a:r>
            <a:endParaRPr lang="en-US" dirty="0"/>
          </a:p>
        </p:txBody>
      </p:sp>
      <p:sp>
        <p:nvSpPr>
          <p:cNvPr id="11" name="Text 7"/>
          <p:cNvSpPr/>
          <p:nvPr>
            <p:ph idx="109" type="body" hasCustomPrompt="1"/>
          </p:nvPr>
        </p:nvSpPr>
        <p:spPr>
          <a:xfrm>
            <a:off x="7449313" y="1348740"/>
            <a:ext cx="4285488" cy="5090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355"/>
              </a:lnSpc>
              <a:buNone/>
              <a:defRPr sz="1905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text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1010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Figure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914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𝜋 Shift Grating: Overview</a:t>
            </a:r>
            <a:endParaRPr lang="en-US" sz="1270" dirty="0"/>
          </a:p>
        </p:txBody>
      </p:sp>
      <p:sp>
        <p:nvSpPr>
          <p:cNvPr id="8" name="Text 6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September 13, 2026</a:t>
            </a:r>
            <a:endParaRPr lang="en-US" sz="127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10" name="Text 7"/>
          <p:cNvSpPr/>
          <p:nvPr>
            <p:ph idx="108" type="pic" hasCustomPrompt="1"/>
          </p:nvPr>
        </p:nvSpPr>
        <p:spPr>
          <a:xfrm>
            <a:off x="457200" y="1348740"/>
            <a:ext cx="5410201" cy="3870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icon to add picture</a:t>
            </a:r>
            <a:endParaRPr lang="en-US" dirty="0"/>
          </a:p>
        </p:txBody>
      </p:sp>
      <p:sp>
        <p:nvSpPr>
          <p:cNvPr id="11" name="Text 7"/>
          <p:cNvSpPr/>
          <p:nvPr>
            <p:ph idx="109" type="pic" hasCustomPrompt="1"/>
          </p:nvPr>
        </p:nvSpPr>
        <p:spPr>
          <a:xfrm>
            <a:off x="6324601" y="1348740"/>
            <a:ext cx="5410201" cy="3870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icon to add picture</a:t>
            </a:r>
            <a:endParaRPr lang="en-US" dirty="0"/>
          </a:p>
        </p:txBody>
      </p:sp>
      <p:sp>
        <p:nvSpPr>
          <p:cNvPr id="12" name="Text 7"/>
          <p:cNvSpPr/>
          <p:nvPr>
            <p:ph idx="110" type="body" hasCustomPrompt="1"/>
          </p:nvPr>
        </p:nvSpPr>
        <p:spPr>
          <a:xfrm>
            <a:off x="457200" y="5372101"/>
            <a:ext cx="11277601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355"/>
              </a:lnSpc>
              <a:buNone/>
              <a:defRPr sz="1905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caption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1011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Figures Stacke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914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𝜋 Shift Grating: Overview</a:t>
            </a:r>
            <a:endParaRPr lang="en-US" sz="1270" dirty="0"/>
          </a:p>
        </p:txBody>
      </p:sp>
      <p:sp>
        <p:nvSpPr>
          <p:cNvPr id="8" name="Text 6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September 13, 2026</a:t>
            </a:r>
            <a:endParaRPr lang="en-US" sz="127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10" name="Text 7"/>
          <p:cNvSpPr/>
          <p:nvPr>
            <p:ph idx="108" type="pic" hasCustomPrompt="1"/>
          </p:nvPr>
        </p:nvSpPr>
        <p:spPr>
          <a:xfrm>
            <a:off x="457200" y="1348740"/>
            <a:ext cx="11277601" cy="185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icon to add picture</a:t>
            </a:r>
            <a:endParaRPr lang="en-US" dirty="0"/>
          </a:p>
        </p:txBody>
      </p:sp>
      <p:sp>
        <p:nvSpPr>
          <p:cNvPr id="11" name="Text 7"/>
          <p:cNvSpPr/>
          <p:nvPr>
            <p:ph idx="109" type="pic" hasCustomPrompt="1"/>
          </p:nvPr>
        </p:nvSpPr>
        <p:spPr>
          <a:xfrm>
            <a:off x="457200" y="3360420"/>
            <a:ext cx="11277601" cy="185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icon to add picture</a:t>
            </a:r>
            <a:endParaRPr lang="en-US" dirty="0"/>
          </a:p>
        </p:txBody>
      </p:sp>
      <p:sp>
        <p:nvSpPr>
          <p:cNvPr id="12" name="Text 7"/>
          <p:cNvSpPr/>
          <p:nvPr>
            <p:ph idx="110" type="body" hasCustomPrompt="1"/>
          </p:nvPr>
        </p:nvSpPr>
        <p:spPr>
          <a:xfrm>
            <a:off x="457200" y="5372101"/>
            <a:ext cx="11277601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355"/>
              </a:lnSpc>
              <a:buNone/>
              <a:defRPr sz="1905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caption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1012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gur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914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𝜋 Shift Grating: Overview</a:t>
            </a:r>
            <a:endParaRPr lang="en-US" sz="1270" dirty="0"/>
          </a:p>
        </p:txBody>
      </p:sp>
      <p:sp>
        <p:nvSpPr>
          <p:cNvPr id="8" name="Text 6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September 13, 2026</a:t>
            </a:r>
            <a:endParaRPr lang="en-US" sz="127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10" name="Text 7"/>
          <p:cNvSpPr/>
          <p:nvPr>
            <p:ph idx="108" type="pic" hasCustomPrompt="1"/>
          </p:nvPr>
        </p:nvSpPr>
        <p:spPr>
          <a:xfrm>
            <a:off x="457200" y="1348740"/>
            <a:ext cx="11277601" cy="5090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icon to add picture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1013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1" hdr="0" ftr="0" dt="0"/>
  <p:txStyles>
    <p:titleStyle>
      <a:lvl1pPr algn="l" defTabSz="914400" rtl="0" eaLnBrk="1" latinLnBrk="0" hangingPunct="1">
        <a:spcBef>
          <a:spcPct val="0"/>
        </a:spcBef>
        <a:buNone/>
        <a:defRPr sz="304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73964" indent="-228600" algn="l" defTabSz="914400" rtl="0" eaLnBrk="1" latinLnBrk="0" hangingPunct="1">
        <a:spcBef>
          <a:spcPct val="20000"/>
        </a:spcBef>
        <a:buClr>
          <a:srgbClr val="3333B3"/>
        </a:buClr>
        <a:buSzPct val="80000"/>
        <a:buFont typeface="Arial" pitchFamily="34" charset="0"/>
        <a:buChar char="●"/>
        <a:defRPr sz="2328" kern="1200">
          <a:solidFill>
            <a:schemeClr val="tx1"/>
          </a:solidFill>
          <a:latin typeface="+mn-lt"/>
          <a:ea typeface="+mn-ea"/>
          <a:cs typeface="+mn-cs"/>
        </a:defRPr>
      </a:lvl1pPr>
      <a:lvl2pPr marL="893064" indent="-213360" algn="l" defTabSz="914400" rtl="0" eaLnBrk="1" latinLnBrk="0" hangingPunct="1">
        <a:spcBef>
          <a:spcPct val="20000"/>
        </a:spcBef>
        <a:buClr>
          <a:srgbClr val="3333B3"/>
        </a:buClr>
        <a:buSzPct val="70000"/>
        <a:buFont typeface="Arial" pitchFamily="34" charset="0"/>
        <a:buChar char="▸"/>
        <a:defRPr sz="2328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3548" y="1283970"/>
            <a:ext cx="11804905" cy="1425702"/>
          </a:xfrm>
          <a:prstGeom prst="roundRect">
            <a:avLst>
              <a:gd name="adj" fmla="val 7483"/>
            </a:avLst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  <a:effectLst>
            <a:outerShdw sx="100000" sy="100000" kx="0" ky="0" algn="bl" rotWithShape="0" blurRad="50800" dist="30480" dir="5400000">
              <a:srgbClr val="000000">
                <a:alpha val="45000"/>
              </a:srgbClr>
            </a:outerShdw>
          </a:effectLst>
        </p:spPr>
      </p:sp>
      <p:sp>
        <p:nvSpPr>
          <p:cNvPr id="3" name="Text 7"/>
          <p:cNvSpPr txBox="1"/>
          <p:nvPr>
            <p:ph idx="107" type="title" hasCustomPrompt="1"/>
          </p:nvPr>
        </p:nvSpPr>
        <p:spPr>
          <a:xfrm>
            <a:off x="193548" y="1479595"/>
            <a:ext cx="11804905" cy="558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810"/>
              </a:lnSpc>
              <a:buNone/>
            </a:pP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3048">
                    <ns0:latin typeface="Cambria Math"/>
                  </ns0:rPr>
                  <m:t>π</m:t>
                </m:r>
              </m:oMath>
            </a14:m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Shift Bragg Grating for Acousto Optic Sensing: Research Overview</a:t>
            </a:r>
            <a:endParaRPr lang="en-US" sz="3048" dirty="0"/>
          </a:p>
        </p:txBody>
      </p:sp>
      <p:sp>
        <p:nvSpPr>
          <p:cNvPr id="4" name="Text 7"/>
          <p:cNvSpPr txBox="1"/>
          <p:nvPr>
            <p:ph idx="108" type="body" hasCustomPrompt="1"/>
          </p:nvPr>
        </p:nvSpPr>
        <p:spPr>
          <a:xfrm>
            <a:off x="193548" y="2048432"/>
            <a:ext cx="11804905" cy="804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79"/>
              </a:lnSpc>
              <a:buNone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Maximizing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2328">
                    <ns0:latin typeface="Cambria Math"/>
                  </ns0:rPr>
                  <m:t>Q</m:t>
                </m:r>
              </m:oMath>
            </a14:m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at a fixed 20 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2328">
                    <ns0:latin typeface="Cambria Math"/>
                  </ns0:rPr>
                  <m:t>μ</m:t>
                </m:r>
              </m:oMath>
            </a14:m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m mode and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2328">
                    <ns0:latin typeface="Cambria Math"/>
                  </ns0:rPr>
                  <m:t>−3</m:t>
                </m:r>
              </m:oMath>
            </a14:m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 dB insertion loss, November 2025 to September 2026</a:t>
            </a:r>
            <a:endParaRPr lang="en-US" sz="2328" dirty="0"/>
          </a:p>
        </p:txBody>
      </p:sp>
      <p:sp>
        <p:nvSpPr>
          <p:cNvPr id="5" name="Text 7"/>
          <p:cNvSpPr txBox="1"/>
          <p:nvPr>
            <p:ph idx="109" type="body" hasCustomPrompt="1"/>
          </p:nvPr>
        </p:nvSpPr>
        <p:spPr>
          <a:xfrm>
            <a:off x="193548" y="3192194"/>
            <a:ext cx="11804905" cy="804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79"/>
              </a:lnSpc>
              <a:buNone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2328" dirty="0"/>
          </a:p>
          <a:p>
            <a:pPr algn="ctr" indent="0" marL="0">
              <a:lnSpc>
                <a:spcPts val="2879"/>
              </a:lnSpc>
              <a:buNone/>
            </a:pPr>
            <a:r>
              <a:rPr lang="en-US" sz="2328" i="1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Research Overview</a:t>
            </a:r>
            <a:endParaRPr lang="en-US" sz="2328" dirty="0"/>
          </a:p>
        </p:txBody>
      </p:sp>
      <p:sp>
        <p:nvSpPr>
          <p:cNvPr id="6" name="Text 7"/>
          <p:cNvSpPr txBox="1"/>
          <p:nvPr>
            <p:ph idx="110" type="body" hasCustomPrompt="1"/>
          </p:nvPr>
        </p:nvSpPr>
        <p:spPr>
          <a:xfrm>
            <a:off x="193548" y="4699419"/>
            <a:ext cx="11804905" cy="440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79"/>
              </a:lnSpc>
              <a:buNone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September 13, 2026</a:t>
            </a:r>
            <a:endParaRPr lang="en-US" sz="2328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Only cavity local changes escape the loss versus width trade</a:t>
            </a:r>
            <a:endParaRPr lang="en-US" sz="3048" dirty="0"/>
          </a:p>
        </p:txBody>
      </p:sp>
      <p:sp>
        <p:nvSpPr>
          <p:cNvPr id="3" name="Text 7"/>
          <p:cNvSpPr txBox="1"/>
          <p:nvPr>
            <p:ph idx="108" type="body" hasCustomPrompt="1"/>
          </p:nvPr>
        </p:nvSpPr>
        <p:spPr>
          <a:xfrm>
            <a:off x="457200" y="1259762"/>
            <a:ext cx="11277601" cy="4995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473964" indent="-228600">
              <a:lnSpc>
                <a:spcPts val="2879"/>
              </a:lnSpc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b="1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Goal:</a:t>
            </a: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a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2328">
                    <ns0:latin typeface="Cambria Math"/>
                  </ns0:rPr>
                  <m:t>π</m:t>
                </m:r>
              </m:oMath>
            </a14:m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shift Bragg grating with a fixed </a:t>
            </a:r>
            <a:r>
              <a:rPr lang="en-US" sz="2328" b="1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20 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2328">
                    <ns0:latin typeface="Cambria Math"/>
                  </ns0:rPr>
                  <m:t>μ</m:t>
                </m:r>
              </m:oMath>
            </a14:m>
            <a:r>
              <a:rPr lang="en-US" sz="2328" b="1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m</a:t>
            </a: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mode, maximizing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2328">
                    <ns0:latin typeface="Cambria Math"/>
                  </ns0:rPr>
                  <m:t>Q</m:t>
                </m:r>
              </m:oMath>
            </a14:m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at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2328">
                    <ns0:latin typeface="Cambria Math"/>
                  </ns0:rPr>
                  <m:t>−3</m:t>
                </m:r>
              </m:oMath>
            </a14:m>
            <a:r>
              <a:rPr lang="en-US" sz="2328" b="1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 dB</a:t>
            </a: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. Materials are lossless, so every lever manages radiation.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Bef>
                <a:spcPts val="1084"/>
              </a:spcBef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b="1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Teeth:</a:t>
            </a: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apodization, tooth shifts and tooth shapes all reduce loss </a:t>
            </a:r>
            <a:r>
              <a:rPr lang="en-US" sz="2328" i="1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and</a:t>
            </a: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widen the mode. Only cavity local changes, new scatterers and the lab's overshoot apodization escape.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Bef>
                <a:spcPts val="1084"/>
              </a:spcBef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b="1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TE and TM</a:t>
            </a: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plain gratings tie at the operating point (13k). TM radiates in the propagation plane and responds to lateral structures (trench +35 %, circle rows +30 %); TE does not.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Bef>
                <a:spcPts val="1084"/>
              </a:spcBef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b="1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Inverse design</a:t>
            </a: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(25 free teeth per side, width held fixed) is the largest measured gain: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2328">
                    <ns0:latin typeface="Cambria Math"/>
                  </ns0:rPr>
                  <m:t>Q=88.9</m:t>
                </m:r>
              </m:oMath>
            </a14:m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k, 6.4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2328">
                    <ns0:latin typeface="Cambria Math"/>
                  </ns0:rPr>
                  <m:t>×</m:t>
                </m:r>
              </m:oMath>
            </a14:m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plain. Still below the lab's TE overshoot (projected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2328">
                    <ns0:latin typeface="Cambria Math"/>
                  </ns0:rPr>
                  <m:t>2</m:t>
                </m:r>
              </m:oMath>
            </a14:m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to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2328">
                    <ns0:latin typeface="Cambria Math"/>
                  </ns0:rPr>
                  <m:t>3.4×</m:t>
                </m:r>
                <m:sSup>
                  <m:e>
                    <m:r>
                      <ns0:rPr xmlns:ns0="http://schemas.openxmlformats.org/drawingml/2006/main" lang="en-US" sz="2328">
                        <ns0:latin typeface="Cambria Math"/>
                      </ns0:rPr>
                      <m:t>10</m:t>
                    </m:r>
                  </m:e>
                  <m:sup>
                    <m:r>
                      <ns0:rPr xmlns:ns0="http://schemas.openxmlformats.org/drawingml/2006/main" lang="en-US" sz="2328">
                        <ns0:latin typeface="Cambria Math"/>
                      </ns0:rPr>
                      <m:t>5</m:t>
                    </m:r>
                  </m:sup>
                </m:sSup>
              </m:oMath>
            </a14:m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); in progress.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Bef>
                <a:spcPts val="1084"/>
              </a:spcBef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b="1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Dead ends,</a:t>
            </a: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all measured: reflectors of every kind, in core hole lattices, BIC and Kerker scatterers, a second cavity, shaped trenches, exotic teeth.</a:t>
            </a:r>
            <a:endParaRPr lang="en-US" sz="2328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At 20 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3048">
                    <ns0:latin typeface="Cambria Math"/>
                  </ns0:rPr>
                  <m:t>μ</m:t>
                </m:r>
              </m:oMath>
            </a14:m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m and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3048">
                    <ns0:latin typeface="Cambria Math"/>
                  </ns0:rPr>
                  <m:t>−3</m:t>
                </m:r>
              </m:oMath>
            </a14:m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 dB the inverse design leads by 6.4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3048">
                    <ns0:latin typeface="Cambria Math"/>
                  </ns0:rPr>
                  <m:t>×</m:t>
                </m:r>
              </m:oMath>
            </a14:m>
            <a:endParaRPr lang="en-US" sz="3048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71566"/>
          <a:ext cx="11277601" cy="3236245"/>
        </p:xfrm>
        <a:graphic>
          <a:graphicData uri="http://schemas.openxmlformats.org/drawingml/2006/table">
            <a:tbl>
              <a:tblPr/>
              <a:tblGrid>
                <a:gridCol w="3044952"/>
                <a:gridCol w="676656"/>
                <a:gridCol w="1691640"/>
                <a:gridCol w="902208"/>
                <a:gridCol w="2368296"/>
                <a:gridCol w="1353312"/>
                <a:gridCol w="1240536"/>
              </a:tblGrid>
              <a:tr h="269687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device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pol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corr / </a:t>
                      </a:r>
                      <a:r>
                        <a:rPr lang="en-US" sz="1693" i="1" dirty="0">
                          <a:solidFill>
                            <a:srgbClr val="000000"/>
                          </a:solidFill>
                          <a:latin typeface="Latin Modern Roman" pitchFamily="34" charset="0"/>
                          <a:ea typeface="Latin Modern Roman" pitchFamily="34" charset="-122"/>
                          <a:cs typeface="Latin Modern Roman" pitchFamily="34" charset="-120"/>
                        </a:rPr>
                        <a:t>N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i="1" dirty="0">
                          <a:solidFill>
                            <a:srgbClr val="000000"/>
                          </a:solidFill>
                          <a:latin typeface="Latin Modern Roman" pitchFamily="34" charset="0"/>
                          <a:ea typeface="Latin Modern Roman" pitchFamily="34" charset="-122"/>
                          <a:cs typeface="Latin Modern Roman" pitchFamily="34" charset="-120"/>
                        </a:rPr>
                        <a:t>T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i="1" dirty="0">
                          <a:solidFill>
                            <a:srgbClr val="000000"/>
                          </a:solidFill>
                          <a:latin typeface="Latin Modern Roman" pitchFamily="34" charset="0"/>
                          <a:ea typeface="Latin Modern Roman" pitchFamily="34" charset="-122"/>
                          <a:cs typeface="Latin Modern Roman" pitchFamily="34" charset="-120"/>
                        </a:rPr>
                        <a:t>Q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gain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mode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9687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plain grating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TE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250 / 166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0.492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12,903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011"/>
                        </a:lnSpc>
                        <a:buNone/>
                      </a:pP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20.5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69687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plain grating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TM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325 / 165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0.491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13,930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011"/>
                        </a:lnSpc>
                        <a:buNone/>
                      </a:pP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20.0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69687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+ circle row, 57 posts, </a:t>
                      </a:r>
                      <a:r>
                        <a:rPr lang="en-US" sz="1693" i="1" dirty="0">
                          <a:solidFill>
                            <a:srgbClr val="000000"/>
                          </a:solidFill>
                          <a:latin typeface="Latin Modern Roman" pitchFamily="34" charset="0"/>
                          <a:ea typeface="Latin Modern Roman" pitchFamily="34" charset="-122"/>
                          <a:cs typeface="Latin Modern Roman" pitchFamily="34" charset="-120"/>
                        </a:rPr>
                        <a:t>r</a:t>
                      </a: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 80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TM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325 / 169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0.496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16,203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+16 %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19.9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69687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+ air trench, half depth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TM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325 / 168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0.502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16,942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+22 %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19.7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39374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+ circle row, 61 posts, </a:t>
                      </a:r>
                      <a:r>
                        <a:rPr lang="en-US" sz="1693" i="1" dirty="0">
                          <a:solidFill>
                            <a:srgbClr val="000000"/>
                          </a:solidFill>
                          <a:latin typeface="Latin Modern Roman" pitchFamily="34" charset="0"/>
                          <a:ea typeface="Latin Modern Roman" pitchFamily="34" charset="-122"/>
                          <a:cs typeface="Latin Modern Roman" pitchFamily="34" charset="-120"/>
                        </a:rPr>
                        <a:t>r</a:t>
                      </a: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 110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TM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325 / 171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0.506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17,557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+26 %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19.8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69687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+ circle pair, 31 + 31 posts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TM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325 / 172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0.500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18,093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+30 %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19.8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69687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+ air trench, full depth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TM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325 / 170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0.502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18,777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+35 %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19.6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69687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lab overshoot apodization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TM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lab / 189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0.528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34k to 36k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2.6</a:t>
                      </a: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Math" pitchFamily="34" charset="0"/>
                          <a:ea typeface="Latin Modern Math" pitchFamily="34" charset="-122"/>
                          <a:cs typeface="Latin Modern Math" pitchFamily="34" charset="-120"/>
                        </a:rPr>
                        <a:t> × 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20.3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69687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inverse design + circles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TM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358 / 220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0.499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88,868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6.4</a:t>
                      </a: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Math" pitchFamily="34" charset="0"/>
                          <a:ea typeface="Latin Modern Math" pitchFamily="34" charset="-122"/>
                          <a:cs typeface="Latin Modern Math" pitchFamily="34" charset="-120"/>
                        </a:rPr>
                        <a:t> × 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19.9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69687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lab overshoot (projected)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TE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lab profile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—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Roman" pitchFamily="34" charset="0"/>
                          <a:ea typeface="Latin Modern Roman" pitchFamily="34" charset="-122"/>
                          <a:cs typeface="Latin Modern Roman" pitchFamily="34" charset="-120"/>
                        </a:rPr>
                        <a:t>2</a:t>
                      </a: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Roman" pitchFamily="34" charset="0"/>
                          <a:ea typeface="Latin Modern Roman" pitchFamily="34" charset="-122"/>
                          <a:cs typeface="Latin Modern Roman" pitchFamily="34" charset="-120"/>
                        </a:rPr>
                        <a:t>.</a:t>
                      </a: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Roman" pitchFamily="34" charset="0"/>
                          <a:ea typeface="Latin Modern Roman" pitchFamily="34" charset="-122"/>
                          <a:cs typeface="Latin Modern Roman" pitchFamily="34" charset="-120"/>
                        </a:rPr>
                        <a:t>0</a:t>
                      </a:r>
                      <a:r>
                        <a:rPr lang="en-US" sz="1693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 to </a:t>
                      </a: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Roman" pitchFamily="34" charset="0"/>
                          <a:ea typeface="Latin Modern Roman" pitchFamily="34" charset="-122"/>
                          <a:cs typeface="Latin Modern Roman" pitchFamily="34" charset="-120"/>
                        </a:rPr>
                        <a:t>3</a:t>
                      </a: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Roman" pitchFamily="34" charset="0"/>
                          <a:ea typeface="Latin Modern Roman" pitchFamily="34" charset="-122"/>
                          <a:cs typeface="Latin Modern Roman" pitchFamily="34" charset="-120"/>
                        </a:rPr>
                        <a:t>.</a:t>
                      </a: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Roman" pitchFamily="34" charset="0"/>
                          <a:ea typeface="Latin Modern Roman" pitchFamily="34" charset="-122"/>
                          <a:cs typeface="Latin Modern Roman" pitchFamily="34" charset="-120"/>
                        </a:rPr>
                        <a:t>4</a:t>
                      </a: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Math" pitchFamily="34" charset="0"/>
                          <a:ea typeface="Latin Modern Math" pitchFamily="34" charset="-122"/>
                          <a:cs typeface="Latin Modern Math" pitchFamily="34" charset="-120"/>
                        </a:rPr>
                        <a:t> × </a:t>
                      </a: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Roman" pitchFamily="34" charset="0"/>
                          <a:ea typeface="Latin Modern Roman" pitchFamily="34" charset="-122"/>
                          <a:cs typeface="Latin Modern Roman" pitchFamily="34" charset="-120"/>
                        </a:rPr>
                        <a:t>1</a:t>
                      </a: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Roman" pitchFamily="34" charset="0"/>
                          <a:ea typeface="Latin Modern Roman" pitchFamily="34" charset="-122"/>
                          <a:cs typeface="Latin Modern Roman" pitchFamily="34" charset="-120"/>
                        </a:rPr>
                        <a:t>0</a:t>
                      </a:r>
                      <a:r>
                        <a:rPr lang="en-US" sz="1693" baseline="30000" dirty="0">
                          <a:solidFill>
                            <a:srgbClr val="000000"/>
                          </a:solidFill>
                          <a:latin typeface="Latin Modern Roman" pitchFamily="34" charset="0"/>
                          <a:ea typeface="Latin Modern Roman" pitchFamily="34" charset="-122"/>
                          <a:cs typeface="Latin Modern Roman" pitchFamily="34" charset="-120"/>
                        </a:rPr>
                        <a:t>5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15 to 26</a:t>
                      </a: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Math" pitchFamily="34" charset="0"/>
                          <a:ea typeface="Latin Modern Math" pitchFamily="34" charset="-122"/>
                          <a:cs typeface="Latin Modern Math" pitchFamily="34" charset="-120"/>
                        </a:rPr>
                        <a:t> × 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19.7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5041204"/>
            <a:ext cx="11277601" cy="1168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9"/>
              </a:lnSpc>
              <a:buNone/>
            </a:pPr>
            <a:r>
              <a:rPr lang="en-US" sz="1693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SiN 1.97 / SiO</a:t>
            </a:r>
            <a:r>
              <a:rPr lang="en-US" sz="1693" baseline="-25000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2</a:t>
            </a:r>
            <a:r>
              <a:rPr lang="en-US" sz="1693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1.444, 350 nm core, corrugation in nm,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1693">
                    <ns0:latin typeface="Cambria Math"/>
                  </ns0:rPr>
                  <m:t>λ≈1560</m:t>
                </m:r>
              </m:oMath>
            </a14:m>
            <a:r>
              <a:rPr lang="en-US" sz="1693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 nm; each device lengthened until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1693">
                    <ns0:latin typeface="Cambria Math"/>
                  </ns0:rPr>
                  <m:t>T=0.5</m:t>
                </m:r>
              </m:oMath>
            </a14:m>
            <a:r>
              <a:rPr lang="en-US" sz="1693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at 20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1693">
                    <ns0:latin typeface="Cambria Math"/>
                  </ns0:rPr>
                  <m:t>±</m:t>
                </m:r>
              </m:oMath>
            </a14:m>
            <a:r>
              <a:rPr lang="en-US" sz="1693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1 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1693">
                    <ns0:latin typeface="Cambria Math"/>
                  </ns0:rPr>
                  <m:t>μ</m:t>
                </m:r>
              </m:oMath>
            </a14:m>
            <a:r>
              <a:rPr lang="en-US" sz="1693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m, where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1693">
                    <ns0:latin typeface="Cambria Math"/>
                  </ns0:rPr>
                  <m:t>Q(−3</m:t>
                </m:r>
                <m:r>
                  <m:rPr>
                    <m:sty m:val="p"/>
                  </m:rPr>
                  <ns0:rPr xmlns:ns0="http://schemas.openxmlformats.org/drawingml/2006/main" lang="en-US" sz="1693">
                    <ns0:latin typeface="Cambria Math"/>
                  </ns0:rPr>
                  <m:t>dB</m:t>
                </m:r>
                <m:r>
                  <ns0:rPr xmlns:ns0="http://schemas.openxmlformats.org/drawingml/2006/main" lang="en-US" sz="1693">
                    <ns0:latin typeface="Cambria Math"/>
                  </ns0:rPr>
                  <m:t>)≈0.29</m:t>
                </m:r>
                <m:sSub>
                  <m:e>
                    <m:r>
                      <ns0:rPr xmlns:ns0="http://schemas.openxmlformats.org/drawingml/2006/main" lang="en-US" sz="1693">
                        <ns0:latin typeface="Cambria Math"/>
                      </ns0:rPr>
                      <m:t>Q</m:t>
                    </m:r>
                  </m:e>
                  <m:sub>
                    <m:r>
                      <ns0:rPr xmlns:ns0="http://schemas.openxmlformats.org/drawingml/2006/main" lang="en-US" sz="1693">
                        <ns0:latin typeface="Cambria Math"/>
                      </ns0:rPr>
                      <m:t>i</m:t>
                    </m:r>
                  </m:sub>
                </m:sSub>
              </m:oMath>
            </a14:m>
            <a:r>
              <a:rPr lang="en-US" sz="1693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is set by radiation alone. Overshoot rows are the lab's profile: TM interpolated to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1693">
                    <ns0:latin typeface="Cambria Math"/>
                  </ns0:rPr>
                  <m:t>T=0.5</m:t>
                </m:r>
              </m:oMath>
            </a14:m>
            <a:r>
              <a:rPr lang="en-US" sz="1693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, TE projected from measured </a:t>
            </a:r>
            <a14:m xmlns:a14="http://schemas.microsoft.com/office/drawing/2010/main">
              <m:oMath xmlns:m="http://schemas.openxmlformats.org/officeDocument/2006/math">
                <m:sSub>
                  <m:e>
                    <m:r>
                      <ns0:rPr xmlns:ns0="http://schemas.openxmlformats.org/drawingml/2006/main" lang="en-US" sz="1693">
                        <ns0:latin typeface="Cambria Math"/>
                      </ns0:rPr>
                      <m:t>Q</m:t>
                    </m:r>
                  </m:e>
                  <m:sub>
                    <m:r>
                      <ns0:rPr xmlns:ns0="http://schemas.openxmlformats.org/drawingml/2006/main" lang="en-US" sz="1693">
                        <ns0:latin typeface="Cambria Math"/>
                      </ns0:rPr>
                      <m:t>i</m:t>
                    </m:r>
                  </m:sub>
                </m:sSub>
              </m:oMath>
            </a14:m>
            <a:r>
              <a:rPr lang="en-US" sz="1693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.</a:t>
            </a:r>
            <a:endParaRPr lang="en-US" sz="1693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Three tiers: lateral structures, inverse design, TE overshoot</a:t>
            </a:r>
            <a:endParaRPr lang="en-US" sz="3048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81300" y="1360170"/>
          <a:ext cx="4829402" cy="4199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5711630"/>
            <a:ext cx="11277601" cy="804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9"/>
              </a:lnSpc>
              <a:buNone/>
            </a:pP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Loaded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1905">
                    <ns0:latin typeface="Cambria Math"/>
                  </ns0:rPr>
                  <m:t>Q</m:t>
                </m:r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at the operating point. The two overshoot bars are the lab's profile, not ours: TM interpolated to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1905">
                    <ns0:latin typeface="Cambria Math"/>
                  </ns0:rPr>
                  <m:t>T=0.5</m:t>
                </m:r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, TE the midpoint of the projected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1905">
                    <ns0:latin typeface="Cambria Math"/>
                  </ns0:rPr>
                  <m:t>2.0</m:t>
                </m:r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to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1905">
                    <ns0:latin typeface="Cambria Math"/>
                  </ns0:rPr>
                  <m:t>3.4×</m:t>
                </m:r>
                <m:sSup>
                  <m:e>
                    <m:r>
                      <ns0:rPr xmlns:ns0="http://schemas.openxmlformats.org/drawingml/2006/main" lang="en-US" sz="1905">
                        <ns0:latin typeface="Cambria Math"/>
                      </ns0:rPr>
                      <m:t>10</m:t>
                    </m:r>
                  </m:e>
                  <m:sup>
                    <m:r>
                      <ns0:rPr xmlns:ns0="http://schemas.openxmlformats.org/drawingml/2006/main" lang="en-US" sz="1905">
                        <ns0:latin typeface="Cambria Math"/>
                      </ns0:rPr>
                      <m:t>5</m:t>
                    </m:r>
                  </m:sup>
                </m:sSup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range, never measured at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1905">
                    <ns0:latin typeface="Cambria Math"/>
                  </ns0:rPr>
                  <m:t>−3</m:t>
                </m:r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 dB.</a:t>
            </a:r>
            <a:endParaRPr lang="en-US" sz="190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TE: apodization cuts loss most and widens the mode most</a:t>
            </a:r>
            <a:endParaRPr lang="en-US" sz="3048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4493"/>
          <a:ext cx="11277601" cy="3726609"/>
        </p:xfrm>
        <a:graphic>
          <a:graphicData uri="http://schemas.openxmlformats.org/drawingml/2006/table">
            <a:tbl>
              <a:tblPr/>
              <a:tblGrid>
                <a:gridCol w="2932176"/>
                <a:gridCol w="1466088"/>
                <a:gridCol w="1466088"/>
                <a:gridCol w="5413249"/>
              </a:tblGrid>
              <a:tr h="67756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lever (TE)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peak </a:t>
                      </a:r>
                      <a:r>
                        <a:rPr lang="en-US" sz="1905" i="1" dirty="0">
                          <a:solidFill>
                            <a:srgbClr val="000000"/>
                          </a:solidFill>
                          <a:latin typeface="Latin Modern Roman" pitchFamily="34" charset="0"/>
                          <a:ea typeface="Latin Modern Roman" pitchFamily="34" charset="-122"/>
                          <a:cs typeface="Latin Modern Roman" pitchFamily="34" charset="-120"/>
                        </a:rPr>
                        <a:t>T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mode width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remark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756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linear apodization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up strongly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up strongly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10 apodized periods per side: mode 15 to 20 </a:t>
                      </a: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Math" pitchFamily="34" charset="0"/>
                          <a:ea typeface="Latin Modern Math" pitchFamily="34" charset="-122"/>
                          <a:cs typeface="Latin Modern Math" pitchFamily="34" charset="-120"/>
                        </a:rPr>
                        <a:t>𝜇</a:t>
                      </a: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7756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tanh apodization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same as linear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up, less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same </a:t>
                      </a:r>
                      <a:r>
                        <a:rPr lang="en-US" sz="1905" i="1" dirty="0">
                          <a:solidFill>
                            <a:srgbClr val="000000"/>
                          </a:solidFill>
                          <a:latin typeface="Latin Modern Roman" pitchFamily="34" charset="0"/>
                          <a:ea typeface="Latin Modern Roman" pitchFamily="34" charset="-122"/>
                          <a:cs typeface="Latin Modern Roman" pitchFamily="34" charset="-120"/>
                        </a:rPr>
                        <a:t>T</a:t>
                      </a: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 for a tighter mode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7756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apodized period count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saturates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saturates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5 </a:t>
                      </a: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Math" pitchFamily="34" charset="0"/>
                          <a:ea typeface="Latin Modern Math" pitchFamily="34" charset="-122"/>
                          <a:cs typeface="Latin Modern Math" pitchFamily="34" charset="-120"/>
                        </a:rPr>
                        <a:t>≈ </a:t>
                      </a: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 10; 20 to 40 add nothing; slight resonance shift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16348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overshoot apodization (lab's model)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set by period count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set by amplitude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not a taper: overshoots to </a:t>
                      </a: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Math" pitchFamily="34" charset="0"/>
                          <a:ea typeface="Latin Modern Math" pitchFamily="34" charset="-122"/>
                          <a:cs typeface="Latin Modern Math" pitchFamily="34" charset="-120"/>
                        </a:rPr>
                        <a:t>∼ </a:t>
                      </a: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2.4</a:t>
                      </a: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Math" pitchFamily="34" charset="0"/>
                          <a:ea typeface="Latin Modern Math" pitchFamily="34" charset="-122"/>
                          <a:cs typeface="Latin Modern Math" pitchFamily="34" charset="-120"/>
                        </a:rPr>
                        <a:t> × </a:t>
                      </a: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 bulk, dips, settles; </a:t>
                      </a:r>
                      <a:r>
                        <a:rPr lang="en-US" sz="1905" i="1" dirty="0">
                          <a:solidFill>
                            <a:srgbClr val="000000"/>
                          </a:solidFill>
                          <a:latin typeface="Latin Modern Roman" pitchFamily="34" charset="0"/>
                          <a:ea typeface="Latin Modern Roman" pitchFamily="34" charset="-122"/>
                          <a:cs typeface="Latin Modern Roman" pitchFamily="34" charset="-120"/>
                        </a:rPr>
                        <a:t>Q</a:t>
                      </a:r>
                      <a:r>
                        <a:rPr lang="en-US" sz="1905" i="1" baseline="-25000" dirty="0">
                          <a:solidFill>
                            <a:srgbClr val="000000"/>
                          </a:solidFill>
                          <a:latin typeface="Latin Modern Roman" pitchFamily="34" charset="0"/>
                          <a:ea typeface="Latin Modern Roman" pitchFamily="34" charset="-122"/>
                          <a:cs typeface="Latin Modern Roman" pitchFamily="34" charset="-120"/>
                        </a:rPr>
                        <a:t>i</a:t>
                      </a: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 </a:t>
                      </a: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Math" pitchFamily="34" charset="0"/>
                          <a:ea typeface="Latin Modern Math" pitchFamily="34" charset="-122"/>
                          <a:cs typeface="Latin Modern Math" pitchFamily="34" charset="-120"/>
                        </a:rPr>
                        <a:t>∼ </a:t>
                      </a: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15</a:t>
                      </a: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Math" pitchFamily="34" charset="0"/>
                          <a:ea typeface="Latin Modern Math" pitchFamily="34" charset="-122"/>
                          <a:cs typeface="Latin Modern Math" pitchFamily="34" charset="-120"/>
                        </a:rPr>
                        <a:t> × </a:t>
                      </a: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 ours in TE, 2.6</a:t>
                      </a: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Math" pitchFamily="34" charset="0"/>
                          <a:ea typeface="Latin Modern Math" pitchFamily="34" charset="-122"/>
                          <a:cs typeface="Latin Modern Math" pitchFamily="34" charset="-120"/>
                        </a:rPr>
                        <a:t> × </a:t>
                      </a: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 in TM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5293082"/>
            <a:ext cx="11277601" cy="1168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9"/>
              </a:lnSpc>
              <a:buNone/>
            </a:pP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Directions at equal period count. Apodization removes the abrupt envelope corner at the cavity, which radiates like an antenna; the far field drops one to two orders of magnitude with 10 apodized periods. The overshoot profile is the strongest lever on the table and we did not invent it.</a:t>
            </a:r>
            <a:endParaRPr lang="en-US" sz="190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TE: the innermost tooth shift cuts loss at no width cost</a:t>
            </a:r>
            <a:endParaRPr lang="en-US" sz="3048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4493"/>
          <a:ext cx="11277601" cy="3726609"/>
        </p:xfrm>
        <a:graphic>
          <a:graphicData uri="http://schemas.openxmlformats.org/drawingml/2006/table">
            <a:tbl>
              <a:tblPr/>
              <a:tblGrid>
                <a:gridCol w="3157728"/>
                <a:gridCol w="1353312"/>
                <a:gridCol w="1691640"/>
                <a:gridCol w="5074920"/>
              </a:tblGrid>
              <a:tr h="67756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lever (TE)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peak </a:t>
                      </a:r>
                      <a:r>
                        <a:rPr lang="en-US" sz="1905" i="1" dirty="0">
                          <a:solidFill>
                            <a:srgbClr val="000000"/>
                          </a:solidFill>
                          <a:latin typeface="Latin Modern Roman" pitchFamily="34" charset="0"/>
                          <a:ea typeface="Latin Modern Roman" pitchFamily="34" charset="-122"/>
                          <a:cs typeface="Latin Modern Roman" pitchFamily="34" charset="-120"/>
                        </a:rPr>
                        <a:t>T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mode width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verdict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16348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innermost pair shifted outward (100 to 140 nm plateau)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up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unchanged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loss down at no width cost; </a:t>
                      </a:r>
                      <a:r>
                        <a:rPr lang="en-US" sz="1905" i="1" dirty="0">
                          <a:solidFill>
                            <a:srgbClr val="000000"/>
                          </a:solidFill>
                          <a:latin typeface="Latin Modern Roman" pitchFamily="34" charset="0"/>
                          <a:ea typeface="Latin Modern Roman" pitchFamily="34" charset="-122"/>
                          <a:cs typeface="Latin Modern Roman" pitchFamily="34" charset="-120"/>
                        </a:rPr>
                        <a:t>Q</a:t>
                      </a: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 rises modestly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7756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shift + one tooth apodization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up further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unchanged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most of a full apodization's </a:t>
                      </a:r>
                      <a:r>
                        <a:rPr lang="en-US" sz="1905" i="1" dirty="0">
                          <a:solidFill>
                            <a:srgbClr val="000000"/>
                          </a:solidFill>
                          <a:latin typeface="Latin Modern Roman" pitchFamily="34" charset="0"/>
                          <a:ea typeface="Latin Modern Roman" pitchFamily="34" charset="-122"/>
                          <a:cs typeface="Latin Modern Roman" pitchFamily="34" charset="-120"/>
                        </a:rPr>
                        <a:t>T</a:t>
                      </a: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 at a much tighter mode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7756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two teeth + cavity width, PSO (5 parameters)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best per width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slightly wider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gradient not needed; experiment confirms the shift range, </a:t>
                      </a:r>
                      <a:r>
                        <a:rPr lang="en-US" sz="1905" i="1" dirty="0">
                          <a:solidFill>
                            <a:srgbClr val="000000"/>
                          </a:solidFill>
                          <a:latin typeface="Latin Modern Roman" pitchFamily="34" charset="0"/>
                          <a:ea typeface="Latin Modern Roman" pitchFamily="34" charset="-122"/>
                          <a:cs typeface="Latin Modern Roman" pitchFamily="34" charset="-120"/>
                        </a:rPr>
                        <a:t>Q</a:t>
                      </a: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 1.3 to 1.5</a:t>
                      </a: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Math" pitchFamily="34" charset="0"/>
                          <a:ea typeface="Latin Modern Math" pitchFamily="34" charset="-122"/>
                          <a:cs typeface="Latin Modern Math" pitchFamily="34" charset="-120"/>
                        </a:rPr>
                        <a:t> × </a:t>
                      </a: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 simulation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7756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exotic innermost tooth shapes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Math" pitchFamily="34" charset="0"/>
                          <a:ea typeface="Latin Modern Math" pitchFamily="34" charset="-122"/>
                          <a:cs typeface="Latin Modern Math" pitchFamily="34" charset="-120"/>
                        </a:rPr>
                        <a:t>∼ </a:t>
                      </a: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flat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—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ceiling </a:t>
                      </a: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Math" pitchFamily="34" charset="0"/>
                          <a:ea typeface="Latin Modern Math" pitchFamily="34" charset="-122"/>
                          <a:cs typeface="Latin Modern Math" pitchFamily="34" charset="-120"/>
                        </a:rPr>
                        <a:t>Δ</a:t>
                      </a:r>
                      <a:r>
                        <a:rPr lang="en-US" sz="1905" i="1" dirty="0">
                          <a:solidFill>
                            <a:srgbClr val="000000"/>
                          </a:solidFill>
                          <a:latin typeface="Latin Modern Roman" pitchFamily="34" charset="0"/>
                          <a:ea typeface="Latin Modern Roman" pitchFamily="34" charset="-122"/>
                          <a:cs typeface="Latin Modern Roman" pitchFamily="34" charset="-120"/>
                        </a:rPr>
                        <a:t>T</a:t>
                      </a: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Math" pitchFamily="34" charset="0"/>
                          <a:ea typeface="Latin Modern Math" pitchFamily="34" charset="-122"/>
                          <a:cs typeface="Latin Modern Math" pitchFamily="34" charset="-120"/>
                        </a:rPr>
                        <a:t> ≈ </a:t>
                      </a: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 +0.001 to +0.006 beyond the shift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5293082"/>
            <a:ext cx="11277601" cy="1168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9"/>
              </a:lnSpc>
              <a:buNone/>
            </a:pP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The shift tunes the innermost reflection to the cavity round trip, </a:t>
            </a:r>
            <a14:m xmlns:a14="http://schemas.microsoft.com/office/drawing/2010/main">
              <m:oMath xmlns:m="http://schemas.openxmlformats.org/officeDocument/2006/math">
                <m:r>
                  <m:rPr>
                    <m:sty m:val="p"/>
                  </m:rPr>
                  <ns0:rPr xmlns:ns0="http://schemas.openxmlformats.org/drawingml/2006/main" lang="en-US" sz="1905">
                    <ns0:latin typeface="Cambria Math"/>
                  </ns0:rPr>
                  <m:t>arg</m:t>
                </m:r>
                <m:r>
                  <ns0:rPr xmlns:ns0="http://schemas.openxmlformats.org/drawingml/2006/main" lang="en-US" sz="1905">
                    <ns0:latin typeface="Cambria Math"/>
                  </ns0:rPr>
                  <m:t>(r)+</m:t>
                </m:r>
                <m:sSub>
                  <m:e>
                    <m:r>
                      <ns0:rPr xmlns:ns0="http://schemas.openxmlformats.org/drawingml/2006/main" lang="en-US" sz="1905">
                        <ns0:latin typeface="Cambria Math"/>
                      </ns0:rPr>
                      <m:t>k</m:t>
                    </m:r>
                  </m:e>
                  <m:sub>
                    <m:r>
                      <ns0:rPr xmlns:ns0="http://schemas.openxmlformats.org/drawingml/2006/main" lang="en-US" sz="1905">
                        <ns0:latin typeface="Cambria Math"/>
                      </ns0:rPr>
                      <m:t>0</m:t>
                    </m:r>
                  </m:sub>
                </m:sSub>
                <m:sSub>
                  <m:e>
                    <m:r>
                      <ns0:rPr xmlns:ns0="http://schemas.openxmlformats.org/drawingml/2006/main" lang="en-US" sz="1905">
                        <ns0:latin typeface="Cambria Math"/>
                      </ns0:rPr>
                      <m:t>n</m:t>
                    </m:r>
                  </m:e>
                  <m:sub>
                    <m:r>
                      <m:rPr>
                        <m:sty m:val="p"/>
                      </m:rPr>
                      <ns0:rPr xmlns:ns0="http://schemas.openxmlformats.org/drawingml/2006/main" lang="en-US" sz="1905">
                        <ns0:latin typeface="Cambria Math"/>
                      </ns0:rPr>
                      <m:t>eff</m:t>
                    </m:r>
                  </m:sub>
                </m:sSub>
                <m:sSub>
                  <m:e>
                    <m:r>
                      <ns0:rPr xmlns:ns0="http://schemas.openxmlformats.org/drawingml/2006/main" lang="en-US" sz="1905">
                        <ns0:latin typeface="Cambria Math"/>
                      </ns0:rPr>
                      <m:t>L</m:t>
                    </m:r>
                  </m:e>
                  <m:sub>
                    <m:r>
                      <m:rPr>
                        <m:sty m:val="p"/>
                      </m:rPr>
                      <ns0:rPr xmlns:ns0="http://schemas.openxmlformats.org/drawingml/2006/main" lang="en-US" sz="1905">
                        <ns0:latin typeface="Cambria Math"/>
                      </ns0:rPr>
                      <m:t>cav</m:t>
                    </m:r>
                  </m:sub>
                </m:sSub>
                <m:r>
                  <ns0:rPr xmlns:ns0="http://schemas.openxmlformats.org/drawingml/2006/main" lang="en-US" sz="1905">
                    <ns0:latin typeface="Cambria Math"/>
                  </ns0:rPr>
                  <m:t>=0</m:t>
                </m:r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, redirecting light that would leak at the cavity corner into the mode. A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1905">
                    <ns0:latin typeface="Cambria Math"/>
                  </ns0:rPr>
                  <m:t>k</m:t>
                </m:r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space budget sets the ceiling: only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1905">
                    <ns0:latin typeface="Cambria Math"/>
                  </ns0:rPr>
                  <m:t>~</m:t>
                </m:r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15 % of the radiated power originates within one tooth of the cavity.</a:t>
            </a:r>
            <a:endParaRPr lang="en-US" sz="190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TE and TM tie at the operating point but radiate differently</a:t>
            </a:r>
            <a:endParaRPr lang="en-US" sz="3048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65997"/>
          <a:ext cx="11277601" cy="3387827"/>
        </p:xfrm>
        <a:graphic>
          <a:graphicData uri="http://schemas.openxmlformats.org/drawingml/2006/table">
            <a:tbl>
              <a:tblPr/>
              <a:tblGrid>
                <a:gridCol w="3157728"/>
                <a:gridCol w="3044952"/>
                <a:gridCol w="5074920"/>
              </a:tblGrid>
              <a:tr h="338783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comparison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TE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756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same length (80 periods)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more lossy, higher </a:t>
                      </a:r>
                      <a:r>
                        <a:rPr lang="en-US" sz="1905" i="1" dirty="0">
                          <a:solidFill>
                            <a:srgbClr val="000000"/>
                          </a:solidFill>
                          <a:latin typeface="Latin Modern Roman" pitchFamily="34" charset="0"/>
                          <a:ea typeface="Latin Modern Roman" pitchFamily="34" charset="-122"/>
                          <a:cs typeface="Latin Modern Roman" pitchFamily="34" charset="-120"/>
                        </a:rPr>
                        <a:t>Q</a:t>
                      </a: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, narrower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3</a:t>
                      </a: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Math" pitchFamily="34" charset="0"/>
                          <a:ea typeface="Latin Modern Math" pitchFamily="34" charset="-122"/>
                          <a:cs typeface="Latin Modern Math" pitchFamily="34" charset="-120"/>
                        </a:rPr>
                        <a:t> × </a:t>
                      </a: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 weaker coupling: less lossy, lower </a:t>
                      </a:r>
                      <a:r>
                        <a:rPr lang="en-US" sz="1905" i="1" dirty="0">
                          <a:solidFill>
                            <a:srgbClr val="000000"/>
                          </a:solidFill>
                          <a:latin typeface="Latin Modern Roman" pitchFamily="34" charset="0"/>
                          <a:ea typeface="Latin Modern Roman" pitchFamily="34" charset="-122"/>
                          <a:cs typeface="Latin Modern Roman" pitchFamily="34" charset="-120"/>
                        </a:rPr>
                        <a:t>Q</a:t>
                      </a: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, wider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8783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matched peak </a:t>
                      </a:r>
                      <a:r>
                        <a:rPr lang="en-US" sz="1905" i="1" dirty="0">
                          <a:solidFill>
                            <a:srgbClr val="000000"/>
                          </a:solidFill>
                          <a:latin typeface="Latin Modern Roman" pitchFamily="34" charset="0"/>
                          <a:ea typeface="Latin Modern Roman" pitchFamily="34" charset="-122"/>
                          <a:cs typeface="Latin Modern Roman" pitchFamily="34" charset="-120"/>
                        </a:rPr>
                        <a:t>T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80 periods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132 periods, and then </a:t>
                      </a:r>
                      <a:r>
                        <a:rPr lang="en-US" sz="1905" i="1" dirty="0">
                          <a:solidFill>
                            <a:srgbClr val="000000"/>
                          </a:solidFill>
                          <a:latin typeface="Latin Modern Roman" pitchFamily="34" charset="0"/>
                          <a:ea typeface="Latin Modern Roman" pitchFamily="34" charset="-122"/>
                          <a:cs typeface="Latin Modern Roman" pitchFamily="34" charset="-120"/>
                        </a:rPr>
                        <a:t>Q</a:t>
                      </a: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 2.9</a:t>
                      </a: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Math" pitchFamily="34" charset="0"/>
                          <a:ea typeface="Latin Modern Math" pitchFamily="34" charset="-122"/>
                          <a:cs typeface="Latin Modern Math" pitchFamily="34" charset="-120"/>
                        </a:rPr>
                        <a:t> × </a:t>
                      </a: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 TE's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7756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matched mode width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300 nm corrugation, 15.5 </a:t>
                      </a: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Math" pitchFamily="34" charset="0"/>
                          <a:ea typeface="Latin Modern Math" pitchFamily="34" charset="-122"/>
                          <a:cs typeface="Latin Modern Math" pitchFamily="34" charset="-120"/>
                        </a:rPr>
                        <a:t>𝜇</a:t>
                      </a: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400 nm corrugation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8783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20 </a:t>
                      </a: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Math" pitchFamily="34" charset="0"/>
                          <a:ea typeface="Latin Modern Math" pitchFamily="34" charset="-122"/>
                          <a:cs typeface="Latin Modern Math" pitchFamily="34" charset="-120"/>
                        </a:rPr>
                        <a:t>𝜇</a:t>
                      </a: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m / </a:t>
                      </a: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Roman" pitchFamily="34" charset="0"/>
                          <a:ea typeface="Latin Modern Roman" pitchFamily="34" charset="-122"/>
                          <a:cs typeface="Latin Modern Roman" pitchFamily="34" charset="-120"/>
                        </a:rPr>
                        <a:t> − </a:t>
                      </a: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Roman" pitchFamily="34" charset="0"/>
                          <a:ea typeface="Latin Modern Roman" pitchFamily="34" charset="-122"/>
                          <a:cs typeface="Latin Modern Roman" pitchFamily="34" charset="-120"/>
                        </a:rPr>
                        <a:t>3</a:t>
                      </a: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 dB point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i="1" dirty="0">
                          <a:solidFill>
                            <a:srgbClr val="000000"/>
                          </a:solidFill>
                          <a:latin typeface="Latin Modern Roman" pitchFamily="34" charset="0"/>
                          <a:ea typeface="Latin Modern Roman" pitchFamily="34" charset="-122"/>
                          <a:cs typeface="Latin Modern Roman" pitchFamily="34" charset="-120"/>
                        </a:rPr>
                        <a:t>Q</a:t>
                      </a: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 = 12,903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i="1" dirty="0">
                          <a:solidFill>
                            <a:srgbClr val="000000"/>
                          </a:solidFill>
                          <a:latin typeface="Latin Modern Roman" pitchFamily="34" charset="0"/>
                          <a:ea typeface="Latin Modern Roman" pitchFamily="34" charset="-122"/>
                          <a:cs typeface="Latin Modern Roman" pitchFamily="34" charset="-120"/>
                        </a:rPr>
                        <a:t>Q</a:t>
                      </a: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 = 13,930 (+8 %)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7756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radiation direction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upward, broad cone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Math" pitchFamily="34" charset="0"/>
                          <a:ea typeface="Latin Modern Math" pitchFamily="34" charset="-122"/>
                          <a:cs typeface="Latin Modern Math" pitchFamily="34" charset="-120"/>
                        </a:rPr>
                        <a:t>∼ </a:t>
                      </a: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60 % in the propagation plane, sharp lobe 11 to 12</a:t>
                      </a:r>
                      <a:r>
                        <a:rPr lang="en-US" sz="1905" baseline="30000" dirty="0">
                          <a:solidFill>
                            <a:srgbClr val="000000"/>
                          </a:solidFill>
                          <a:latin typeface="Latin Modern Math" pitchFamily="34" charset="0"/>
                          <a:ea typeface="Latin Modern Math" pitchFamily="34" charset="-122"/>
                          <a:cs typeface="Latin Modern Math" pitchFamily="34" charset="-120"/>
                        </a:rPr>
                        <a:t>∘</a:t>
                      </a: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 off axis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8783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lateral structures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null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i="1" dirty="0">
                          <a:solidFill>
                            <a:srgbClr val="000000"/>
                          </a:solidFill>
                          <a:latin typeface="Latin Modern Roman" pitchFamily="34" charset="0"/>
                          <a:ea typeface="Latin Modern Roman" pitchFamily="34" charset="-122"/>
                          <a:cs typeface="Latin Modern Roman" pitchFamily="34" charset="-120"/>
                        </a:rPr>
                        <a:t>Q</a:t>
                      </a: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 +22 to +35 %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5305803"/>
            <a:ext cx="11277601" cy="804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9"/>
              </a:lnSpc>
              <a:buNone/>
            </a:pP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The TM mode has half the TE margin in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1905">
                    <ns0:latin typeface="Cambria Math"/>
                  </ns0:rPr>
                  <m:t>k</m:t>
                </m:r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space to the cladding light line (</a:t>
            </a:r>
            <a14:m xmlns:a14="http://schemas.microsoft.com/office/drawing/2010/main">
              <m:oMath xmlns:m="http://schemas.openxmlformats.org/officeDocument/2006/math">
                <m:sSub>
                  <m:e>
                    <m:r>
                      <ns0:rPr xmlns:ns0="http://schemas.openxmlformats.org/drawingml/2006/main" lang="en-US" sz="1905">
                        <ns0:latin typeface="Cambria Math"/>
                      </ns0:rPr>
                      <m:t>n</m:t>
                    </m:r>
                  </m:e>
                  <m:sub>
                    <m:r>
                      <m:rPr>
                        <m:sty m:val="p"/>
                      </m:rPr>
                      <ns0:rPr xmlns:ns0="http://schemas.openxmlformats.org/drawingml/2006/main" lang="en-US" sz="1905">
                        <ns0:latin typeface="Cambria Math"/>
                      </ns0:rPr>
                      <m:t>eff</m:t>
                    </m:r>
                  </m:sub>
                </m:sSub>
                <m:r>
                  <ns0:rPr xmlns:ns0="http://schemas.openxmlformats.org/drawingml/2006/main" lang="en-US" sz="1905">
                    <ns0:latin typeface="Cambria Math"/>
                  </ns0:rPr>
                  <m:t>−</m:t>
                </m:r>
                <m:sSub>
                  <m:e>
                    <m:r>
                      <ns0:rPr xmlns:ns0="http://schemas.openxmlformats.org/drawingml/2006/main" lang="en-US" sz="1905">
                        <ns0:latin typeface="Cambria Math"/>
                      </ns0:rPr>
                      <m:t>n</m:t>
                    </m:r>
                  </m:e>
                  <m:sub>
                    <m:r>
                      <m:rPr>
                        <m:sty m:val="p"/>
                      </m:rPr>
                      <ns0:rPr xmlns:ns0="http://schemas.openxmlformats.org/drawingml/2006/main" lang="en-US" sz="1905">
                        <ns0:latin typeface="Cambria Math"/>
                      </ns0:rPr>
                      <m:t>clad</m:t>
                    </m:r>
                  </m:sub>
                </m:sSub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smaller), so envelope changes radiate more easily; the 350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1905">
                    <ns0:latin typeface="Cambria Math"/>
                  </ns0:rPr>
                  <m:t>×</m:t>
                </m:r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800 nm core is past the aspect ratio where the TM bandgap weakens.</a:t>
            </a:r>
            <a:endParaRPr lang="en-US" sz="190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TM: tooth level detuning always widens; narrowing is under 1 %</a:t>
            </a:r>
            <a:endParaRPr lang="en-US" sz="3048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4493"/>
          <a:ext cx="11277601" cy="3726609"/>
        </p:xfrm>
        <a:graphic>
          <a:graphicData uri="http://schemas.openxmlformats.org/drawingml/2006/table">
            <a:tbl>
              <a:tblPr/>
              <a:tblGrid>
                <a:gridCol w="3383280"/>
                <a:gridCol w="1127760"/>
                <a:gridCol w="1578864"/>
                <a:gridCol w="5187697"/>
              </a:tblGrid>
              <a:tr h="67756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lever (TM)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loss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mode width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verdict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756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linear / tanh apodization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down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up a lot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+15 % (5), +26 % (10), +49 % (20 apodized periods); tanh widens less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8783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large innermost tooth shift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down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up (+5 %)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no optimum; the loss lives in the arms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7756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Math" pitchFamily="34" charset="0"/>
                          <a:ea typeface="Latin Modern Math" pitchFamily="34" charset="-122"/>
                          <a:cs typeface="Latin Modern Math" pitchFamily="34" charset="-120"/>
                        </a:rPr>
                        <a:t>𝜋</a:t>
                      </a: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 shift spread over many gaps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up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—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20 to 40 % worse than the lumped shift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7756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wider cavity (800 to 1050 nm)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Roman" pitchFamily="34" charset="0"/>
                          <a:ea typeface="Latin Modern Roman" pitchFamily="34" charset="-122"/>
                          <a:cs typeface="Latin Modern Roman" pitchFamily="34" charset="-120"/>
                        </a:rPr>
                        <a:t> − </a:t>
                      </a: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30 %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+0.6 %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cheapest loss lever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7756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+ see saw on the two inner teeth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Roman" pitchFamily="34" charset="0"/>
                          <a:ea typeface="Latin Modern Roman" pitchFamily="34" charset="-122"/>
                          <a:cs typeface="Latin Modern Roman" pitchFamily="34" charset="-120"/>
                        </a:rPr>
                        <a:t> − </a:t>
                      </a: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31 %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+0.8 %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fancier cavity shapes null or worse; mirror symmetry is optimal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5293082"/>
            <a:ext cx="11277601" cy="1168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9"/>
              </a:lnSpc>
              <a:buNone/>
            </a:pP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The envelope decays as </a:t>
            </a:r>
            <a14:m xmlns:a14="http://schemas.microsoft.com/office/drawing/2010/main">
              <m:oMath xmlns:m="http://schemas.openxmlformats.org/officeDocument/2006/math">
                <m:r>
                  <m:rPr>
                    <m:sty m:val="p"/>
                  </m:rPr>
                  <ns0:rPr xmlns:ns0="http://schemas.openxmlformats.org/drawingml/2006/main" lang="en-US" sz="1905">
                    <ns0:latin typeface="Cambria Math"/>
                  </ns0:rPr>
                  <m:t>exp</m:t>
                </m:r>
                <m:r>
                  <ns0:rPr xmlns:ns0="http://schemas.openxmlformats.org/drawingml/2006/main" lang="en-US" sz="1905">
                    <ns0:latin typeface="Cambria Math"/>
                  </ns0:rPr>
                  <m:t>(−∫q</m:t>
                </m:r>
                <m:r>
                  <ns0:rPr xmlns:ns0="http://schemas.openxmlformats.org/drawingml/2006/main" lang="en-US" sz="1905">
                    <ns0:latin typeface="Cambria Math"/>
                  </ns0:rPr>
                  <m:t>dx)</m:t>
                </m:r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with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1905">
                    <ns0:latin typeface="Cambria Math"/>
                  </ns0:rPr>
                  <m:t>q=</m:t>
                </m:r>
                <m:rad>
                  <m:radPr>
                    <m:degHide m:val="on"/>
                  </m:radPr>
                  <m:deg/>
                  <m:e>
                    <m:sSup>
                      <m:e>
                        <m:r>
                          <ns0:rPr xmlns:ns0="http://schemas.openxmlformats.org/drawingml/2006/main" lang="en-US" sz="1905">
                            <ns0:latin typeface="Cambria Math"/>
                          </ns0:rPr>
                          <m:t>κ</m:t>
                        </m:r>
                      </m:e>
                      <m:sup>
                        <m:r>
                          <ns0:rPr xmlns:ns0="http://schemas.openxmlformats.org/drawingml/2006/main" lang="en-US" sz="1905">
                            <ns0:latin typeface="Cambria Math"/>
                          </ns0:rPr>
                          <m:t>2</m:t>
                        </m:r>
                      </m:sup>
                    </m:sSup>
                    <m:r>
                      <ns0:rPr xmlns:ns0="http://schemas.openxmlformats.org/drawingml/2006/main" lang="en-US" sz="1905">
                        <ns0:latin typeface="Cambria Math"/>
                      </ns0:rPr>
                      <m:t>−</m:t>
                    </m:r>
                    <m:sSup>
                      <m:e>
                        <m:r>
                          <ns0:rPr xmlns:ns0="http://schemas.openxmlformats.org/drawingml/2006/main" lang="en-US" sz="1905">
                            <ns0:latin typeface="Cambria Math"/>
                          </ns0:rPr>
                          <m:t>δ</m:t>
                        </m:r>
                      </m:e>
                      <m:sup>
                        <m:r>
                          <ns0:rPr xmlns:ns0="http://schemas.openxmlformats.org/drawingml/2006/main" lang="en-US" sz="1905">
                            <ns0:latin typeface="Cambria Math"/>
                          </ns0:rPr>
                          <m:t>2</m:t>
                        </m:r>
                      </m:sup>
                    </m:sSup>
                  </m:e>
                </m:rad>
                <m:r>
                  <ns0:rPr xmlns:ns0="http://schemas.openxmlformats.org/drawingml/2006/main" lang="en-US" sz="1905">
                    <ns0:latin typeface="Cambria Math"/>
                  </ns0:rPr>
                  <m:t>≤κ</m:t>
                </m:r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: any tooth level detuning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1905">
                    <ns0:latin typeface="Cambria Math"/>
                  </ns0:rPr>
                  <m:t>δ</m:t>
                </m:r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can only lower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1905">
                    <ns0:latin typeface="Cambria Math"/>
                  </ns0:rPr>
                  <m:t>q</m:t>
                </m:r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and widen the mode. Narrowing needs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1905">
                    <ns0:latin typeface="Cambria Math"/>
                  </ns0:rPr>
                  <m:t>κ</m:t>
                </m:r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raised near the centre, which only cavity local changes or new scatterers can do; every measured narrowing is under 1 % (trench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1905">
                    <ns0:latin typeface="Cambria Math"/>
                  </ns0:rPr>
                  <m:t>−</m:t>
                </m:r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0.9 %, circle row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1905">
                    <ns0:latin typeface="Cambria Math"/>
                  </ns0:rPr>
                  <m:t>−</m:t>
                </m:r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0.4 %).</a:t>
            </a:r>
            <a:endParaRPr lang="en-US" sz="190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TM: an air trench raises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3048">
                    <ns0:latin typeface="Cambria Math"/>
                  </ns0:rPr>
                  <m:t>Q</m:t>
                </m:r>
              </m:oMath>
            </a14:m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by 35 % without widening the mode</a:t>
            </a:r>
            <a:endParaRPr lang="en-US" sz="3048" dirty="0"/>
          </a:p>
        </p:txBody>
      </p:sp>
      <p:pic>
        <p:nvPicPr>
          <p:cNvPr id="3" name="Image 0" descr="C:\Users\evyat\Documents\deck_build\trench_cross_sections.png">    </p:cNvPr>
          <p:cNvPicPr>
            <a:picLocks noChangeAspect="1"/>
          </p:cNvPicPr>
          <p:nvPr>
            <p:ph idx="108" type="pic" hasCustomPrompt="1"/>
          </p:nvPr>
        </p:nvPicPr>
        <p:blipFill>
          <a:blip r:embed="rId1"/>
          <a:stretch>
            <a:fillRect/>
          </a:stretch>
        </p:blipFill>
        <p:spPr>
          <a:xfrm>
            <a:off x="578998" y="1480625"/>
            <a:ext cx="5846308" cy="4826392"/>
          </a:xfrm>
          <a:prstGeom prst="rect">
            <a:avLst/>
          </a:prstGeom>
        </p:spPr>
      </p:pic>
      <p:sp>
        <p:nvSpPr>
          <p:cNvPr id="4" name="Text 7"/>
          <p:cNvSpPr txBox="1"/>
          <p:nvPr>
            <p:ph idx="109" type="body" hasCustomPrompt="1"/>
          </p:nvPr>
        </p:nvSpPr>
        <p:spPr>
          <a:xfrm>
            <a:off x="6851905" y="1287360"/>
            <a:ext cx="4882896" cy="4883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8"/>
              </a:lnSpc>
              <a:buNone/>
            </a:pP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A trench 1.8 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1905">
                    <ns0:latin typeface="Cambria Math"/>
                  </ns0:rPr>
                  <m:t>μ</m:t>
                </m:r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m from the guide is the first lever that raises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1905">
                    <ns0:latin typeface="Cambria Math"/>
                  </ns0:rPr>
                  <m:t>T</m:t>
                </m:r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with the mode width unchanged or slightly narrower (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1905">
                    <ns0:latin typeface="Cambria Math"/>
                  </ns0:rPr>
                  <m:t>−</m:t>
                </m:r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0.9 %):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1905">
                    <ns0:latin typeface="Cambria Math"/>
                  </ns0:rPr>
                  <m:t>Q</m:t>
                </m:r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</a:t>
            </a:r>
            <a:r>
              <a:rPr lang="en-US" sz="1905" b="1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+35 %</a:t>
            </a: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(full depth) or </a:t>
            </a:r>
            <a:r>
              <a:rPr lang="en-US" sz="1905" b="1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+22 %</a:t>
            </a: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(stopping at the core top, single lithography).</a:t>
            </a:r>
            <a:endParaRPr lang="en-US" sz="1905" dirty="0"/>
          </a:p>
          <a:p>
            <a:pPr algn="l" indent="0" marL="0">
              <a:lnSpc>
                <a:spcPts val="2328"/>
              </a:lnSpc>
              <a:spcBef>
                <a:spcPts val="1325"/>
              </a:spcBef>
              <a:buNone/>
            </a:pP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Total internal reflection at the oxide to air wall (lobe at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1905">
                    <ns0:latin typeface="Cambria Math"/>
                  </ns0:rPr>
                  <m:t>~</m:t>
                </m:r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79</a:t>
            </a:r>
            <a:r>
              <a:rPr lang="en-US" sz="1905" baseline="30000" dirty="0">
                <a:solidFill>
                  <a:srgbClr val="000000"/>
                </a:solidFill>
                <a:latin typeface="Latin Modern Math" pitchFamily="34" charset="0"/>
                <a:ea typeface="Latin Modern Math" pitchFamily="34" charset="-122"/>
                <a:cs typeface="Latin Modern Math" pitchFamily="34" charset="-120"/>
              </a:rPr>
              <a:t>∘</a:t>
            </a: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, critical angle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1905">
                    <ns0:latin typeface="Cambria Math"/>
                  </ns0:rPr>
                  <m:t>~</m:t>
                </m:r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44</a:t>
            </a:r>
            <a:r>
              <a:rPr lang="en-US" sz="1905" baseline="30000" dirty="0">
                <a:solidFill>
                  <a:srgbClr val="000000"/>
                </a:solidFill>
                <a:latin typeface="Latin Modern Math" pitchFamily="34" charset="0"/>
                <a:ea typeface="Latin Modern Math" pitchFamily="34" charset="-122"/>
                <a:cs typeface="Latin Modern Math" pitchFamily="34" charset="-120"/>
              </a:rPr>
              <a:t>∘</a:t>
            </a: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) shrinks the in plane light cone; a metal wall at the same place gives an equal loss, so it is the low index wall, not a mirror.</a:t>
            </a:r>
            <a:endParaRPr lang="en-US" sz="1905" dirty="0"/>
          </a:p>
          <a:p>
            <a:pPr algn="l" indent="0" marL="0">
              <a:lnSpc>
                <a:spcPts val="2879"/>
              </a:lnSpc>
              <a:spcBef>
                <a:spcPts val="1325"/>
              </a:spcBef>
              <a:buNone/>
            </a:pP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A straight wall is optimal; shaped trenches measured worse. TE null. The deep etch conflicts with the PDMS acoustic cover, which motivated the circles.</a:t>
            </a:r>
            <a:endParaRPr lang="en-US" sz="190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TM: a SiN post row matches the trench in one lithography step</a:t>
            </a:r>
            <a:endParaRPr lang="en-US" sz="3048" dirty="0"/>
          </a:p>
        </p:txBody>
      </p:sp>
      <p:pic>
        <p:nvPicPr>
          <p:cNvPr id="3" name="Image 0" descr="C:\Users\evyat\Documents\deck_build\comb_phase_scan.png">    </p:cNvPr>
          <p:cNvPicPr>
            <a:picLocks noChangeAspect="1"/>
          </p:cNvPicPr>
          <p:nvPr>
            <p:ph idx="108" type="pic" hasCustomPrompt="1"/>
          </p:nvPr>
        </p:nvPicPr>
        <p:blipFill>
          <a:blip r:embed="rId1"/>
          <a:stretch>
            <a:fillRect/>
          </a:stretch>
        </p:blipFill>
        <p:spPr>
          <a:xfrm>
            <a:off x="816074" y="1360170"/>
            <a:ext cx="4768653" cy="3106805"/>
          </a:xfrm>
          <a:prstGeom prst="rect">
            <a:avLst/>
          </a:prstGeom>
        </p:spPr>
      </p:pic>
      <p:pic>
        <p:nvPicPr>
          <p:cNvPr id="4" name="Image 1" descr="C:\Users\evyat\Documents\deck_build\comb_period_scan.png">    </p:cNvPr>
          <p:cNvPicPr>
            <a:picLocks noChangeAspect="1"/>
          </p:cNvPicPr>
          <p:nvPr>
            <p:ph idx="109" type="pic" hasCustomPrompt="1"/>
          </p:nvPr>
        </p:nvPicPr>
        <p:blipFill>
          <a:blip r:embed="rId2"/>
          <a:stretch>
            <a:fillRect/>
          </a:stretch>
        </p:blipFill>
        <p:spPr>
          <a:xfrm>
            <a:off x="6585292" y="1360170"/>
            <a:ext cx="4812617" cy="3106805"/>
          </a:xfrm>
          <a:prstGeom prst="rect">
            <a:avLst/>
          </a:prstGeom>
        </p:spPr>
      </p:pic>
      <p:sp>
        <p:nvSpPr>
          <p:cNvPr id="5" name="Text 7"/>
          <p:cNvSpPr txBox="1"/>
          <p:nvPr>
            <p:ph idx="110" type="body" hasCustomPrompt="1"/>
          </p:nvPr>
        </p:nvSpPr>
        <p:spPr>
          <a:xfrm>
            <a:off x="457200" y="4618955"/>
            <a:ext cx="11277601" cy="1897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9"/>
              </a:lnSpc>
              <a:buNone/>
            </a:pP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The post row (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1905">
                    <ns0:latin typeface="Cambria Math"/>
                  </ns0:rPr>
                  <m:t>r≈80</m:t>
                </m:r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to 110 nm, 1.8 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1905">
                    <ns0:latin typeface="Cambria Math"/>
                  </ns0:rPr>
                  <m:t>μ</m:t>
                </m:r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m from the guide) is a weak grating for the guided carrier and out couples a beam at </a:t>
            </a:r>
            <a14:m xmlns:a14="http://schemas.microsoft.com/office/drawing/2010/main">
              <m:oMath xmlns:m="http://schemas.openxmlformats.org/officeDocument/2006/math">
                <m:sSub>
                  <m:e>
                    <m:r>
                      <ns0:rPr xmlns:ns0="http://schemas.openxmlformats.org/drawingml/2006/main" lang="en-US" sz="1905">
                        <ns0:latin typeface="Cambria Math"/>
                      </ns0:rPr>
                      <m:t>n</m:t>
                    </m:r>
                  </m:e>
                  <m:sub>
                    <m:r>
                      <m:rPr>
                        <m:sty m:val="p"/>
                      </m:rPr>
                      <ns0:rPr xmlns:ns0="http://schemas.openxmlformats.org/drawingml/2006/main" lang="en-US" sz="1905">
                        <ns0:latin typeface="Cambria Math"/>
                      </ns0:rPr>
                      <m:t>clad</m:t>
                    </m:r>
                  </m:sub>
                </m:sSub>
                <m:r>
                  <m:rPr>
                    <m:sty m:val="p"/>
                  </m:rPr>
                  <ns0:rPr xmlns:ns0="http://schemas.openxmlformats.org/drawingml/2006/main" lang="en-US" sz="1905">
                    <ns0:latin typeface="Cambria Math"/>
                  </ns0:rPr>
                  <m:t>sin</m:t>
                </m:r>
                <m:r>
                  <ns0:rPr xmlns:ns0="http://schemas.openxmlformats.org/drawingml/2006/main" lang="en-US" sz="1905">
                    <ns0:latin typeface="Cambria Math"/>
                  </ns0:rPr>
                  <m:t>θ=</m:t>
                </m:r>
                <m:sSub>
                  <m:e>
                    <m:r>
                      <ns0:rPr xmlns:ns0="http://schemas.openxmlformats.org/drawingml/2006/main" lang="en-US" sz="1905">
                        <ns0:latin typeface="Cambria Math"/>
                      </ns0:rPr>
                      <m:t>n</m:t>
                    </m:r>
                  </m:e>
                  <m:sub>
                    <m:r>
                      <m:rPr>
                        <m:sty m:val="p"/>
                      </m:rPr>
                      <ns0:rPr xmlns:ns0="http://schemas.openxmlformats.org/drawingml/2006/main" lang="en-US" sz="1905">
                        <ns0:latin typeface="Cambria Math"/>
                      </ns0:rPr>
                      <m:t>eff</m:t>
                    </m:r>
                  </m:sub>
                </m:sSub>
                <m:r>
                  <ns0:rPr xmlns:ns0="http://schemas.openxmlformats.org/drawingml/2006/main" lang="en-US" sz="1905">
                    <ns0:latin typeface="Cambria Math"/>
                  </ns0:rPr>
                  <m:t>−λ/Λ</m:t>
                </m:r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; at the cutoff </a:t>
            </a:r>
            <a14:m xmlns:a14="http://schemas.microsoft.com/office/drawing/2010/main">
              <m:oMath xmlns:m="http://schemas.openxmlformats.org/officeDocument/2006/math">
                <m:sSub>
                  <m:e>
                    <m:r>
                      <ns0:rPr xmlns:ns0="http://schemas.openxmlformats.org/drawingml/2006/main" lang="en-US" sz="1905">
                        <ns0:latin typeface="Cambria Math"/>
                      </ns0:rPr>
                      <m:t>Λ</m:t>
                    </m:r>
                  </m:e>
                  <m:sub>
                    <m:r>
                      <ns0:rPr xmlns:ns0="http://schemas.openxmlformats.org/drawingml/2006/main" lang="en-US" sz="1905">
                        <ns0:latin typeface="Cambria Math"/>
                      </ns0:rPr>
                      <m:t>c</m:t>
                    </m:r>
                  </m:sub>
                </m:sSub>
                <m:r>
                  <ns0:rPr xmlns:ns0="http://schemas.openxmlformats.org/drawingml/2006/main" lang="en-US" sz="1905">
                    <ns0:latin typeface="Cambria Math"/>
                  </ns0:rPr>
                  <m:t>=λ/(</m:t>
                </m:r>
                <m:sSub>
                  <m:e>
                    <m:r>
                      <ns0:rPr xmlns:ns0="http://schemas.openxmlformats.org/drawingml/2006/main" lang="en-US" sz="1905">
                        <ns0:latin typeface="Cambria Math"/>
                      </ns0:rPr>
                      <m:t>n</m:t>
                    </m:r>
                  </m:e>
                  <m:sub>
                    <m:r>
                      <m:rPr>
                        <m:sty m:val="p"/>
                      </m:rPr>
                      <ns0:rPr xmlns:ns0="http://schemas.openxmlformats.org/drawingml/2006/main" lang="en-US" sz="1905">
                        <ns0:latin typeface="Cambria Math"/>
                      </ns0:rPr>
                      <m:t>eff</m:t>
                    </m:r>
                  </m:sub>
                </m:sSub>
                <m:r>
                  <ns0:rPr xmlns:ns0="http://schemas.openxmlformats.org/drawingml/2006/main" lang="en-US" sz="1905">
                    <ns0:latin typeface="Cambria Math"/>
                  </ns0:rPr>
                  <m:t>+</m:t>
                </m:r>
                <m:sSub>
                  <m:e>
                    <m:r>
                      <ns0:rPr xmlns:ns0="http://schemas.openxmlformats.org/drawingml/2006/main" lang="en-US" sz="1905">
                        <ns0:latin typeface="Cambria Math"/>
                      </ns0:rPr>
                      <m:t>n</m:t>
                    </m:r>
                  </m:e>
                  <m:sub>
                    <m:r>
                      <m:rPr>
                        <m:sty m:val="p"/>
                      </m:rPr>
                      <ns0:rPr xmlns:ns0="http://schemas.openxmlformats.org/drawingml/2006/main" lang="en-US" sz="1905">
                        <ns0:latin typeface="Cambria Math"/>
                      </ns0:rPr>
                      <m:t>clad</m:t>
                    </m:r>
                  </m:sub>
                </m:sSub>
                <m:r>
                  <ns0:rPr xmlns:ns0="http://schemas.openxmlformats.org/drawingml/2006/main" lang="en-US" sz="1905">
                    <ns0:latin typeface="Cambria Math"/>
                  </ns0:rPr>
                  <m:t>)≈531</m:t>
                </m:r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 nm it lands on the lobe, and sliding the row along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1905">
                    <ns0:latin typeface="Cambria Math"/>
                  </ns0:rPr>
                  <m:t>x</m:t>
                </m:r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sets the phase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1905">
                    <ns0:latin typeface="Cambria Math"/>
                  </ns0:rPr>
                  <m:t>φ=</m:t>
                </m:r>
                <m:sSup>
                  <m:e>
                    <m:r>
                      <ns0:rPr xmlns:ns0="http://schemas.openxmlformats.org/drawingml/2006/main" lang="en-US" sz="1905">
                        <ns0:latin typeface="Cambria Math"/>
                      </ns0:rPr>
                      <m:t>360</m:t>
                    </m:r>
                  </m:e>
                  <m:sup>
                    <m:r>
                      <ns0:rPr xmlns:ns0="http://schemas.openxmlformats.org/drawingml/2006/main" lang="en-US" sz="1905">
                        <ns0:latin typeface="Cambria Math"/>
                      </ns0:rPr>
                      <m:t>∘</m:t>
                    </m:r>
                  </m:sup>
                </m:sSup>
                <m:r>
                  <ns0:rPr xmlns:ns0="http://schemas.openxmlformats.org/drawingml/2006/main" lang="en-US" sz="1905">
                    <ns0:latin typeface="Cambria Math"/>
                  </ns0:rPr>
                  <m:t>δx/Λ</m:t>
                </m:r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. Left: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1905">
                    <ns0:latin typeface="Cambria Math"/>
                  </ns0:rPr>
                  <m:t>T</m:t>
                </m:r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follows a sinusoid in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1905">
                    <ns0:latin typeface="Cambria Math"/>
                  </ns0:rPr>
                  <m:t>φ</m:t>
                </m:r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(lobe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1905">
                    <ns0:latin typeface="Cambria Math"/>
                  </ns0:rPr>
                  <m:t>×</m:t>
                </m:r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2.2 at 90</a:t>
            </a:r>
            <a:r>
              <a:rPr lang="en-US" sz="1905" baseline="30000" dirty="0">
                <a:solidFill>
                  <a:srgbClr val="000000"/>
                </a:solidFill>
                <a:latin typeface="Latin Modern Math" pitchFamily="34" charset="0"/>
                <a:ea typeface="Latin Modern Math" pitchFamily="34" charset="-122"/>
                <a:cs typeface="Latin Modern Math" pitchFamily="34" charset="-120"/>
              </a:rPr>
              <a:t>∘</a:t>
            </a: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,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1905">
                    <ns0:latin typeface="Cambria Math"/>
                  </ns0:rPr>
                  <m:t>×</m:t>
                </m:r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0.45 at 270</a:t>
            </a:r>
            <a:r>
              <a:rPr lang="en-US" sz="1905" baseline="30000" dirty="0">
                <a:solidFill>
                  <a:srgbClr val="000000"/>
                </a:solidFill>
                <a:latin typeface="Latin Modern Math" pitchFamily="34" charset="0"/>
                <a:ea typeface="Latin Modern Math" pitchFamily="34" charset="-122"/>
                <a:cs typeface="Latin Modern Math" pitchFamily="34" charset="-120"/>
              </a:rPr>
              <a:t>∘</a:t>
            </a: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); at 0</a:t>
            </a:r>
            <a:r>
              <a:rPr lang="en-US" sz="1905" baseline="30000" dirty="0">
                <a:solidFill>
                  <a:srgbClr val="000000"/>
                </a:solidFill>
                <a:latin typeface="Latin Modern Math" pitchFamily="34" charset="0"/>
                <a:ea typeface="Latin Modern Math" pitchFamily="34" charset="-122"/>
                <a:cs typeface="Latin Modern Math" pitchFamily="34" charset="-120"/>
              </a:rPr>
              <a:t>∘</a:t>
            </a: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, where we started, the row hurts. Right: at 270</a:t>
            </a:r>
            <a:r>
              <a:rPr lang="en-US" sz="1905" baseline="30000" dirty="0">
                <a:solidFill>
                  <a:srgbClr val="000000"/>
                </a:solidFill>
                <a:latin typeface="Latin Modern Math" pitchFamily="34" charset="0"/>
                <a:ea typeface="Latin Modern Math" pitchFamily="34" charset="-122"/>
                <a:cs typeface="Latin Modern Math" pitchFamily="34" charset="-120"/>
              </a:rPr>
              <a:t>∘</a:t>
            </a: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the period sweep peaks near 530 nm; an air hole version flips the sign.</a:t>
            </a:r>
            <a:endParaRPr lang="en-US" sz="190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TM: a second post row adds 3 %; rows are designed analytically</a:t>
            </a:r>
            <a:endParaRPr lang="en-US" sz="3048" dirty="0"/>
          </a:p>
        </p:txBody>
      </p:sp>
      <p:pic>
        <p:nvPicPr>
          <p:cNvPr id="3" name="Image 0" descr="C:\Users\evyat\Documents\deck_build\fig8_pair_triple.png">    </p:cNvPr>
          <p:cNvPicPr>
            <a:picLocks noChangeAspect="1"/>
          </p:cNvPicPr>
          <p:nvPr>
            <p:ph idx="108" type="pic" hasCustomPrompt="1"/>
          </p:nvPr>
        </p:nvPicPr>
        <p:blipFill>
          <a:blip r:embed="rId1"/>
          <a:stretch>
            <a:fillRect/>
          </a:stretch>
        </p:blipFill>
        <p:spPr>
          <a:xfrm>
            <a:off x="457200" y="2420214"/>
            <a:ext cx="6315457" cy="2947213"/>
          </a:xfrm>
          <a:prstGeom prst="rect">
            <a:avLst/>
          </a:prstGeom>
        </p:spPr>
      </p:pic>
      <p:sp>
        <p:nvSpPr>
          <p:cNvPr id="4" name="Text 7"/>
          <p:cNvSpPr txBox="1"/>
          <p:nvPr>
            <p:ph idx="109" type="body" hasCustomPrompt="1"/>
          </p:nvPr>
        </p:nvSpPr>
        <p:spPr>
          <a:xfrm>
            <a:off x="7077457" y="1287360"/>
            <a:ext cx="4657344" cy="5187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8"/>
              </a:lnSpc>
              <a:buNone/>
            </a:pP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At the operating point: +16 % (57 posts,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1905">
                    <ns0:latin typeface="Cambria Math"/>
                  </ns0:rPr>
                  <m:t>r</m:t>
                </m:r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80), +26 % (61 posts,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1905">
                    <ns0:latin typeface="Cambria Math"/>
                  </ns0:rPr>
                  <m:t>r</m:t>
                </m:r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110), +30 % (pair at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1905">
                    <ns0:latin typeface="Cambria Math"/>
                  </ns0:rPr>
                  <m:t>±</m:t>
                </m:r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12 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1905">
                    <ns0:latin typeface="Cambria Math"/>
                  </ns0:rPr>
                  <m:t>μ</m:t>
                </m:r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m), on par with the full trench; width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1905">
                    <ns0:latin typeface="Cambria Math"/>
                  </ns0:rPr>
                  <m:t>−</m:t>
                </m:r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0.4 %.</a:t>
            </a:r>
            <a:endParaRPr lang="en-US" sz="1905" dirty="0"/>
          </a:p>
          <a:p>
            <a:pPr algn="l" indent="0" marL="0">
              <a:lnSpc>
                <a:spcPts val="2328"/>
              </a:lnSpc>
              <a:spcBef>
                <a:spcPts val="1084"/>
              </a:spcBef>
              <a:buNone/>
            </a:pP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A row's cost is set by its two ends, its gain by the carrier it sees: the pair is nearly additive at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1905">
                    <ns0:latin typeface="Cambria Math"/>
                  </ns0:rPr>
                  <m:t>N=80</m:t>
                </m:r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(figure) but only +3 % over one long row at the operating point; a third row adds nothing. Stacked rows, more rows in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1905">
                    <ns0:latin typeface="Cambria Math"/>
                  </ns0:rPr>
                  <m:t>y</m:t>
                </m:r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, radius apodization: null or worse.</a:t>
            </a:r>
            <a:endParaRPr lang="en-US" sz="1905" dirty="0"/>
          </a:p>
          <a:p>
            <a:pPr algn="l" indent="0" marL="0">
              <a:lnSpc>
                <a:spcPts val="2879"/>
              </a:lnSpc>
              <a:spcBef>
                <a:spcPts val="1084"/>
              </a:spcBef>
              <a:buNone/>
            </a:pP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Circles do not stack with apodization, which already removes the lobe, but do stack with the inverse design. Freed there, they drifted under 1 nm: their optimum is separable from the teeth.</a:t>
            </a:r>
            <a:endParaRPr lang="en-US" sz="190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Only the phase set post row cancels; every reflector fails</a:t>
            </a:r>
            <a:endParaRPr lang="en-US" sz="3048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49502"/>
          <a:ext cx="11277601" cy="3888636"/>
        </p:xfrm>
        <a:graphic>
          <a:graphicData uri="http://schemas.openxmlformats.org/drawingml/2006/table">
            <a:tbl>
              <a:tblPr/>
              <a:tblGrid>
                <a:gridCol w="4511040"/>
                <a:gridCol w="1353312"/>
                <a:gridCol w="5413249"/>
              </a:tblGrid>
              <a:tr h="35351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concept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outcome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why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351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phase controlled SiN circle row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works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first phase controlled far field cancellation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5351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air trench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works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light cone shrinking, not interference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070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2 post SiN pair (Green's function placed)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dropped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near field cavity widening, +0.02 in </a:t>
                      </a:r>
                      <a:r>
                        <a:rPr lang="en-US" sz="1905" i="1" dirty="0">
                          <a:solidFill>
                            <a:srgbClr val="000000"/>
                          </a:solidFill>
                          <a:latin typeface="Latin Modern Roman" pitchFamily="34" charset="0"/>
                          <a:ea typeface="Latin Modern Roman" pitchFamily="34" charset="-122"/>
                          <a:cs typeface="Latin Modern Roman" pitchFamily="34" charset="-120"/>
                        </a:rPr>
                        <a:t>T</a:t>
                      </a: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 only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5351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period matched retro reflecting combs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null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transparent, </a:t>
                      </a: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Math" pitchFamily="34" charset="0"/>
                          <a:ea typeface="Latin Modern Math" pitchFamily="34" charset="-122"/>
                          <a:cs typeface="Latin Modern Math" pitchFamily="34" charset="-120"/>
                        </a:rPr>
                        <a:t> ± </a:t>
                      </a: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0.001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5351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metal / PEC mirrors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harmful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equal magnitude loss at the trench position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5351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SiN DBR / photonic crystal walls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harmful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partial gap; reflected light never re couples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5351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in core SiO</a:t>
                      </a:r>
                      <a:r>
                        <a:rPr lang="en-US" sz="1905" baseline="-25000" dirty="0">
                          <a:solidFill>
                            <a:srgbClr val="000000"/>
                          </a:solidFill>
                          <a:latin typeface="Latin Modern Roman" pitchFamily="34" charset="0"/>
                          <a:ea typeface="Latin Modern Roman" pitchFamily="34" charset="-122"/>
                          <a:cs typeface="Latin Modern Roman" pitchFamily="34" charset="-120"/>
                        </a:rPr>
                        <a:t>2</a:t>
                      </a: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 hole lattices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harmful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kill the resonance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5351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Huygens / Kerker scatterers, BIC pairs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harmful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all raise loss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5351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second parallel cavity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harmful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drains, never recycles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Inverse design: 25 free teeth per side at a fixed mode width</a:t>
            </a:r>
            <a:endParaRPr lang="en-US" sz="3048" dirty="0"/>
          </a:p>
        </p:txBody>
      </p:sp>
      <p:pic>
        <p:nvPicPr>
          <p:cNvPr id="3" name="Image 0" descr="C:\Users\evyat\Documents\deck_build\tooth_profiles.png">    </p:cNvPr>
          <p:cNvPicPr>
            <a:picLocks noChangeAspect="1"/>
          </p:cNvPicPr>
          <p:nvPr>
            <p:ph idx="108" type="pic" hasCustomPrompt="1"/>
          </p:nvPr>
        </p:nvPicPr>
        <p:blipFill>
          <a:blip r:embed="rId1"/>
          <a:stretch>
            <a:fillRect/>
          </a:stretch>
        </p:blipFill>
        <p:spPr>
          <a:xfrm>
            <a:off x="513588" y="1838758"/>
            <a:ext cx="5526025" cy="4110124"/>
          </a:xfrm>
          <a:prstGeom prst="rect">
            <a:avLst/>
          </a:prstGeom>
        </p:spPr>
      </p:pic>
      <p:sp>
        <p:nvSpPr>
          <p:cNvPr id="4" name="Text 7"/>
          <p:cNvSpPr txBox="1"/>
          <p:nvPr>
            <p:ph idx="109" type="body" hasCustomPrompt="1"/>
          </p:nvPr>
        </p:nvSpPr>
        <p:spPr>
          <a:xfrm>
            <a:off x="6400801" y="1287360"/>
            <a:ext cx="5334001" cy="4519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8"/>
              </a:lnSpc>
              <a:buNone/>
            </a:pP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3D adjoint optimization (lumopt2) on a 100 period per side TM surrogate. </a:t>
            </a:r>
            <a:r>
              <a:rPr lang="en-US" sz="1905" b="1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191 parameters</a:t>
            </a: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: depth, width and shift of the 25 innermost teeth per side (mirrored), cavity width, and the circle row (frozen in practice).</a:t>
            </a:r>
            <a:endParaRPr lang="en-US" sz="1905" dirty="0"/>
          </a:p>
          <a:p>
            <a:pPr algn="l" indent="0" marL="0">
              <a:lnSpc>
                <a:spcPts val="2328"/>
              </a:lnSpc>
              <a:spcBef>
                <a:spcPts val="1325"/>
              </a:spcBef>
              <a:buNone/>
            </a:pP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Cost: peak transmission. Hard constraints: mode width inside a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1905">
                    <ns0:latin typeface="Cambria Math"/>
                  </ns0:rPr>
                  <m:t>±</m:t>
                </m:r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2 % band and a fixed resonance; the gradient step is projected so it changes neither.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1905">
                    <ns0:latin typeface="Cambria Math"/>
                  </ns0:rPr>
                  <m:t>Q</m:t>
                </m:r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is never in the cost: at fixed width the loaded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1905">
                    <ns0:latin typeface="Cambria Math"/>
                  </ns0:rPr>
                  <m:t>Q</m:t>
                </m:r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is pinned, so every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1905">
                    <ns0:latin typeface="Cambria Math"/>
                  </ns0:rPr>
                  <m:t>T</m:t>
                </m:r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gain is a radiation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1905">
                    <ns0:latin typeface="Cambria Math"/>
                  </ns0:rPr>
                  <m:t>Q</m:t>
                </m:r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gain.</a:t>
            </a:r>
            <a:endParaRPr lang="en-US" sz="1905" dirty="0"/>
          </a:p>
          <a:p>
            <a:pPr algn="l" indent="0" marL="0">
              <a:lnSpc>
                <a:spcPts val="2879"/>
              </a:lnSpc>
              <a:spcBef>
                <a:spcPts val="1325"/>
              </a:spcBef>
              <a:buNone/>
            </a:pP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The optimized profile rises gently over the 25 free teeth (325 to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1905">
                    <ns0:latin typeface="Cambria Math"/>
                  </ns0:rPr>
                  <m:t>~</m:t>
                </m:r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364 nm), a mild version of the lab's overshoot.</a:t>
            </a:r>
            <a:endParaRPr lang="en-US" sz="190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Inverse design: projecting on width and resonance works</a:t>
            </a:r>
            <a:endParaRPr lang="en-US" sz="3048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01772"/>
          <a:ext cx="11277601" cy="3387827"/>
        </p:xfrm>
        <a:graphic>
          <a:graphicData uri="http://schemas.openxmlformats.org/drawingml/2006/table">
            <a:tbl>
              <a:tblPr/>
              <a:tblGrid>
                <a:gridCol w="3834384"/>
                <a:gridCol w="7443217"/>
              </a:tblGrid>
              <a:tr h="338783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attempt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outcome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783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Math" pitchFamily="34" charset="0"/>
                          <a:ea typeface="Latin Modern Math" pitchFamily="34" charset="-122"/>
                          <a:cs typeface="Latin Modern Math" pitchFamily="34" charset="-120"/>
                        </a:rPr>
                        <a:t>𝜎</a:t>
                      </a: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 (second moment) width proxy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failed silently: true FWHM grew 15 % while </a:t>
                      </a: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Math" pitchFamily="34" charset="0"/>
                          <a:ea typeface="Latin Modern Math" pitchFamily="34" charset="-122"/>
                          <a:cs typeface="Latin Modern Math" pitchFamily="34" charset="-120"/>
                        </a:rPr>
                        <a:t>𝜎</a:t>
                      </a: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 held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8783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penalty only cost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failed twice: width drifts to the band edge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8783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projection on width alone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failed: the resonance drifted and dragged the width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7756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projection on width and resonance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works: seed </a:t>
                      </a:r>
                      <a:r>
                        <a:rPr lang="en-US" sz="1905" i="1" dirty="0">
                          <a:solidFill>
                            <a:srgbClr val="000000"/>
                          </a:solidFill>
                          <a:latin typeface="Latin Modern Roman" pitchFamily="34" charset="0"/>
                          <a:ea typeface="Latin Modern Roman" pitchFamily="34" charset="-122"/>
                          <a:cs typeface="Latin Modern Roman" pitchFamily="34" charset="-120"/>
                        </a:rPr>
                        <a:t>T</a:t>
                      </a: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 0.90 to 0.964 (hand re trim) to 0.968 machine driven, resonance held, </a:t>
                      </a:r>
                      <a:r>
                        <a:rPr lang="en-US" sz="1905" i="1" dirty="0">
                          <a:solidFill>
                            <a:srgbClr val="000000"/>
                          </a:solidFill>
                          <a:latin typeface="Latin Modern Roman" pitchFamily="34" charset="0"/>
                          <a:ea typeface="Latin Modern Roman" pitchFamily="34" charset="-122"/>
                          <a:cs typeface="Latin Modern Roman" pitchFamily="34" charset="-120"/>
                        </a:rPr>
                        <a:t>Q</a:t>
                      </a:r>
                      <a:r>
                        <a:rPr lang="en-US" sz="1905" i="1" baseline="-25000" dirty="0">
                          <a:solidFill>
                            <a:srgbClr val="000000"/>
                          </a:solidFill>
                          <a:latin typeface="Latin Modern Roman" pitchFamily="34" charset="0"/>
                          <a:ea typeface="Latin Modern Roman" pitchFamily="34" charset="-122"/>
                          <a:cs typeface="Latin Modern Roman" pitchFamily="34" charset="-120"/>
                        </a:rPr>
                        <a:t>i</a:t>
                      </a: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 110k to 124k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7756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0.964 class design at 20 </a:t>
                      </a: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Math" pitchFamily="34" charset="0"/>
                          <a:ea typeface="Latin Modern Math" pitchFamily="34" charset="-122"/>
                          <a:cs typeface="Latin Modern Math" pitchFamily="34" charset="-120"/>
                        </a:rPr>
                        <a:t>𝜇</a:t>
                      </a: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m / </a:t>
                      </a: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Roman" pitchFamily="34" charset="0"/>
                          <a:ea typeface="Latin Modern Roman" pitchFamily="34" charset="-122"/>
                          <a:cs typeface="Latin Modern Roman" pitchFamily="34" charset="-120"/>
                        </a:rPr>
                        <a:t> − </a:t>
                      </a: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Roman" pitchFamily="34" charset="0"/>
                          <a:ea typeface="Latin Modern Roman" pitchFamily="34" charset="-122"/>
                          <a:cs typeface="Latin Modern Roman" pitchFamily="34" charset="-120"/>
                        </a:rPr>
                        <a:t>3</a:t>
                      </a: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 dB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i="1" dirty="0">
                          <a:solidFill>
                            <a:srgbClr val="000000"/>
                          </a:solidFill>
                          <a:latin typeface="Latin Modern Roman" pitchFamily="34" charset="0"/>
                          <a:ea typeface="Latin Modern Roman" pitchFamily="34" charset="-122"/>
                          <a:cs typeface="Latin Modern Roman" pitchFamily="34" charset="-120"/>
                        </a:rPr>
                        <a:t>Q</a:t>
                      </a:r>
                      <a:r>
                        <a:rPr lang="en-US" sz="1905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 = 88,868</a:t>
                      </a: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 at </a:t>
                      </a:r>
                      <a:r>
                        <a:rPr lang="en-US" sz="1905" i="1" dirty="0">
                          <a:solidFill>
                            <a:srgbClr val="000000"/>
                          </a:solidFill>
                          <a:latin typeface="Latin Modern Roman" pitchFamily="34" charset="0"/>
                          <a:ea typeface="Latin Modern Roman" pitchFamily="34" charset="-122"/>
                          <a:cs typeface="Latin Modern Roman" pitchFamily="34" charset="-120"/>
                        </a:rPr>
                        <a:t>N</a:t>
                      </a: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 = 220, 6.4</a:t>
                      </a: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Math" pitchFamily="34" charset="0"/>
                          <a:ea typeface="Latin Modern Math" pitchFamily="34" charset="-122"/>
                          <a:cs typeface="Latin Modern Math" pitchFamily="34" charset="-120"/>
                        </a:rPr>
                        <a:t> × </a:t>
                      </a: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 plain TM (3 samples per linewidth)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7756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status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paused: optimizer housekeeping bugs, not physics; fixes written, not yet redeployed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941578"/>
            <a:ext cx="11277601" cy="1533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9"/>
              </a:lnSpc>
              <a:buNone/>
            </a:pP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Ranked next: restart; free 60 teeth instead of 25; free the circle row as a separate arm; a TE lane seeded from the overshoot profile, since TM </a:t>
            </a:r>
            <a14:m xmlns:a14="http://schemas.microsoft.com/office/drawing/2010/main">
              <m:oMath xmlns:m="http://schemas.openxmlformats.org/officeDocument/2006/math">
                <m:sSub>
                  <m:e>
                    <m:r>
                      <ns0:rPr xmlns:ns0="http://schemas.openxmlformats.org/drawingml/2006/main" lang="en-US" sz="1905">
                        <ns0:latin typeface="Cambria Math"/>
                      </ns0:rPr>
                      <m:t>Q</m:t>
                    </m:r>
                  </m:e>
                  <m:sub>
                    <m:r>
                      <ns0:rPr xmlns:ns0="http://schemas.openxmlformats.org/drawingml/2006/main" lang="en-US" sz="1905">
                        <ns0:latin typeface="Cambria Math"/>
                      </ns0:rPr>
                      <m:t>i</m:t>
                    </m:r>
                  </m:sub>
                </m:sSub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is capped near 150k to 250k by its light cone margin and the lab's TE </a:t>
            </a:r>
            <a14:m xmlns:a14="http://schemas.microsoft.com/office/drawing/2010/main">
              <m:oMath xmlns:m="http://schemas.openxmlformats.org/officeDocument/2006/math">
                <m:sSub>
                  <m:e>
                    <m:r>
                      <ns0:rPr xmlns:ns0="http://schemas.openxmlformats.org/drawingml/2006/main" lang="en-US" sz="1905">
                        <ns0:latin typeface="Cambria Math"/>
                      </ns0:rPr>
                      <m:t>Q</m:t>
                    </m:r>
                  </m:e>
                  <m:sub>
                    <m:r>
                      <ns0:rPr xmlns:ns0="http://schemas.openxmlformats.org/drawingml/2006/main" lang="en-US" sz="1905">
                        <ns0:latin typeface="Cambria Math"/>
                      </ns0:rPr>
                      <m:t>i</m:t>
                    </m:r>
                  </m:sub>
                </m:sSub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is 7 to 13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1905">
                    <ns0:latin typeface="Cambria Math"/>
                  </ns0:rPr>
                  <m:t>×</m:t>
                </m:r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ours. The optimizer's mesher reads the width band as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1905">
                    <ns0:latin typeface="Cambria Math"/>
                  </ns0:rPr>
                  <m:t>~</m:t>
                </m:r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18.3 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1905">
                    <ns0:latin typeface="Cambria Math"/>
                  </ns0:rPr>
                  <m:t>μ</m:t>
                </m:r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m,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1905">
                    <ns0:latin typeface="Cambria Math"/>
                  </ns0:rPr>
                  <m:t>~</m:t>
                </m:r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20 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1905">
                    <ns0:latin typeface="Cambria Math"/>
                  </ns0:rPr>
                  <m:t>μ</m:t>
                </m:r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m in the standard mesher; never mix them.</a:t>
            </a:r>
            <a:endParaRPr lang="en-US" sz="190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Status: lateral levers closed, inverse design is the open lane</a:t>
            </a:r>
            <a:endParaRPr lang="en-US" sz="3048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34773"/>
          <a:ext cx="11277601" cy="3918095"/>
        </p:xfrm>
        <a:graphic>
          <a:graphicData uri="http://schemas.openxmlformats.org/drawingml/2006/table">
            <a:tbl>
              <a:tblPr/>
              <a:tblGrid>
                <a:gridCol w="3834384"/>
                <a:gridCol w="1127760"/>
                <a:gridCol w="1578864"/>
                <a:gridCol w="4736592"/>
              </a:tblGrid>
              <a:tr h="279864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direction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pol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status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verdict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9864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linear / tanh apodization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TE, TM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done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works; widens the mode; tanh widens less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79864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overshoot apodization (lab's model)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TE, TM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not ours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strongest known lever, TE </a:t>
                      </a: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Math" pitchFamily="34" charset="0"/>
                          <a:ea typeface="Latin Modern Math" pitchFamily="34" charset="-122"/>
                          <a:cs typeface="Latin Modern Math" pitchFamily="34" charset="-120"/>
                        </a:rPr>
                        <a:t>≫ </a:t>
                      </a: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 TM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79864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innermost tooth shift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TE, TM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done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TE: loss down, width constant; TM: widens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79864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2 tooth inverse design (PSO)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TE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closed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best </a:t>
                      </a:r>
                      <a:r>
                        <a:rPr lang="en-US" sz="1693" i="1" dirty="0">
                          <a:solidFill>
                            <a:srgbClr val="000000"/>
                          </a:solidFill>
                          <a:latin typeface="Latin Modern Roman" pitchFamily="34" charset="0"/>
                          <a:ea typeface="Latin Modern Roman" pitchFamily="34" charset="-122"/>
                          <a:cs typeface="Latin Modern Roman" pitchFamily="34" charset="-120"/>
                        </a:rPr>
                        <a:t>T</a:t>
                      </a: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 per width at the time; 5 parameters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79864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cavity width + inner see saw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TM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closed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Roman" pitchFamily="34" charset="0"/>
                          <a:ea typeface="Latin Modern Roman" pitchFamily="34" charset="-122"/>
                          <a:cs typeface="Latin Modern Roman" pitchFamily="34" charset="-120"/>
                        </a:rPr>
                        <a:t> − </a:t>
                      </a: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30 % loss at under 1 % width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59728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air trench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TM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closed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i="1" dirty="0">
                          <a:solidFill>
                            <a:srgbClr val="000000"/>
                          </a:solidFill>
                          <a:latin typeface="Latin Modern Roman" pitchFamily="34" charset="0"/>
                          <a:ea typeface="Latin Modern Roman" pitchFamily="34" charset="-122"/>
                          <a:cs typeface="Latin Modern Roman" pitchFamily="34" charset="-120"/>
                        </a:rPr>
                        <a:t>Q</a:t>
                      </a: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 +35 % (full) / +22 % (half); TE null; fab conflict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79864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SiN circle row(s)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TM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closed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i="1" dirty="0">
                          <a:solidFill>
                            <a:srgbClr val="000000"/>
                          </a:solidFill>
                          <a:latin typeface="Latin Modern Roman" pitchFamily="34" charset="0"/>
                          <a:ea typeface="Latin Modern Roman" pitchFamily="34" charset="-122"/>
                          <a:cs typeface="Latin Modern Roman" pitchFamily="34" charset="-120"/>
                        </a:rPr>
                        <a:t>Q</a:t>
                      </a: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 +30 %, same litho step; ties the full trench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59728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reflectors, mirrors, hole lattices, BIC / Kerker, second cavity, exotic teeth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TM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closed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all null or harmful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59728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25 tooth adjoint inverse design, width constrained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TM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paused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i="1" dirty="0">
                          <a:solidFill>
                            <a:srgbClr val="000000"/>
                          </a:solidFill>
                          <a:latin typeface="Latin Modern Roman" pitchFamily="34" charset="0"/>
                          <a:ea typeface="Latin Modern Roman" pitchFamily="34" charset="-122"/>
                          <a:cs typeface="Latin Modern Roman" pitchFamily="34" charset="-120"/>
                        </a:rPr>
                        <a:t>Q</a:t>
                      </a: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 88.9k, 6.4</a:t>
                      </a: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Math" pitchFamily="34" charset="0"/>
                          <a:ea typeface="Latin Modern Math" pitchFamily="34" charset="-122"/>
                          <a:cs typeface="Latin Modern Math" pitchFamily="34" charset="-120"/>
                        </a:rPr>
                        <a:t> × </a:t>
                      </a: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 plain; below the lab's TE overshoot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79864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predictive engine (CMT calibrated)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both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validated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011"/>
                        </a:lnSpc>
                        <a:buNone/>
                      </a:pPr>
                      <a:r>
                        <a:rPr lang="en-US" sz="1693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one confirmation run replaces tuning ladders</a:t>
                      </a:r>
                      <a:endParaRPr lang="en-US" sz="1693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atin Modern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atin Modern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$\pi$ Shift Grating: Overview</dc:title>
  <dc:subject>PptxGenJS Presentation</dc:subject>
  <dc:creator>Evyatar Rubin</dc:creator>
  <cp:lastModifiedBy>Evyatar Rubin</cp:lastModifiedBy>
  <cp:revision>1</cp:revision>
  <dcterms:created xsi:type="dcterms:W3CDTF">2026-09-13T15:29:46Z</dcterms:created>
  <dcterms:modified xsi:type="dcterms:W3CDTF">2026-09-13T15:29:46Z</dcterms:modified>
</cp:coreProperties>
</file>