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</c:v>
                </c:pt>
              </c:strCache>
            </c:strRef>
          </c:tx>
          <c:spPr>
            <a:solidFill>
              <a:srgbClr val="3333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82" u="none">
                    <a:solidFill>
                      <a:srgbClr val="000000"/>
                    </a:solidFill>
                    <a:latin typeface="Latin Moder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plain, TE</c:v>
                  </c:pt>
                  <c:pt idx="1">
                    <c:v>plain, TM</c:v>
                  </c:pt>
                  <c:pt idx="2">
                    <c:v>SiN cylinder row, TM</c:v>
                  </c:pt>
                  <c:pt idx="3">
                    <c:v>air trench, half depth, TM</c:v>
                  </c:pt>
                  <c:pt idx="4">
                    <c:v>SiN cylinder rows, TM</c:v>
                  </c:pt>
                  <c:pt idx="5">
                    <c:v>air trench, full depth, TM</c:v>
                  </c:pt>
                  <c:pt idx="6">
                    <c:v>lab overshoot, TM</c:v>
                  </c:pt>
                  <c:pt idx="7">
                    <c:v>inverse design, TM</c:v>
                  </c:pt>
                  <c:pt idx="8">
                    <c:v>lab overshoot, TE (projected)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12903</c:v>
                </c:pt>
                <c:pt idx="1">
                  <c:v>13930</c:v>
                </c:pt>
                <c:pt idx="2">
                  <c:v>16203</c:v>
                </c:pt>
                <c:pt idx="3">
                  <c:v>16942</c:v>
                </c:pt>
                <c:pt idx="4">
                  <c:v>18093</c:v>
                </c:pt>
                <c:pt idx="5">
                  <c:v>18777</c:v>
                </c:pt>
                <c:pt idx="6">
                  <c:v>35000</c:v>
                </c:pt>
                <c:pt idx="7">
                  <c:v>88868</c:v>
                </c:pt>
                <c:pt idx="8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82" u="none">
                  <a:solidFill>
                    <a:srgbClr val="000000"/>
                  </a:solidFill>
                  <a:latin typeface="Latin Moder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00000"/>
          <c:min val="1000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905" b="0" i="0" u="none" strike="noStrike">
                    <a:solidFill>
                      <a:srgbClr val="000000"/>
                    </a:solidFill>
                    <a:latin typeface="Latin Modern Sans"/>
                  </a:defRPr>
                </a:pPr>
                <a:r>
                  <a:rPr sz="1905" b="0" i="0" u="none" strike="noStrike">
                    <a:solidFill>
                      <a:srgbClr val="000000"/>
                    </a:solidFill>
                    <a:latin typeface="Latin Modern Sans"/>
                  </a:rPr>
                  <a:t>loaded Q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Radiation loss engineering of 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𝜋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cavities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335194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Main 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Apodization and tooth shift trade loss against mode length.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Structures beside the cavity reduce loss and leave the mode length unchanged.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 radiates in the propagation plane, so an air trench or a SiN cylinder row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reduces its loss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 TE does not.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fixed width, inverse design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does better than any of the hand tuned levers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though it is still below the lab's overshoot.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Reflectors, scatterers and SiO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2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cylinders inside the core </a:t>
            </a:r>
            <a:r>
              <a:rPr lang="en-US" sz="2328" dirty="0">
                <a:solidFill>
                  <a:srgbClr val="BF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do not help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What worked</a:t>
            </a:r>
            <a:endParaRPr lang="en-US" sz="304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4242148"/>
        </p:xfrm>
        <a:graphic>
          <a:graphicData uri="http://schemas.openxmlformats.org/drawingml/2006/table">
            <a:tbl>
              <a:tblPr/>
              <a:tblGrid>
                <a:gridCol w="2807947"/>
                <a:gridCol w="1606619"/>
                <a:gridCol w="2007488"/>
                <a:gridCol w="2157207"/>
                <a:gridCol w="2698341"/>
              </a:tblGrid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polarization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 length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comments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linear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tanh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less widening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overshoot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set by amplitude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lab's model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 cavity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recycles the leak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optimum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distributed small shifts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two tooth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particle swarm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air trench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deep etch needed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cylinder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 lithography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progress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42868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All the levers reduce loss; apodization is the only one that lengthens the mode.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What did not work</a:t>
            </a:r>
            <a:endParaRPr lang="en-US" sz="3048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3535124"/>
        </p:xfrm>
        <a:graphic>
          <a:graphicData uri="http://schemas.openxmlformats.org/drawingml/2006/table">
            <a:tbl>
              <a:tblPr/>
              <a:tblGrid>
                <a:gridCol w="2807947"/>
                <a:gridCol w="1606619"/>
                <a:gridCol w="2318423"/>
                <a:gridCol w="4544612"/>
              </a:tblGrid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polarization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result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comments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SiO</a:t>
                      </a:r>
                      <a:r>
                        <a:rPr lang="en-US" sz="1905" baseline="-25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2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or air holes in core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resonance lost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every hole radiates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Bragg or crystal walls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light never re couples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metal mirrors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same, plus absorption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shaped trenches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worse than straight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straight wall optimal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single scatterers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improvement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acts like a wider cavity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retro reflecting rows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beam misses the lobe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second cavity alongside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power drains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leaks to the neighbour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exotic innermost teeth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the leak is not local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trench or cylinder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 radiates upward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27275" marR="127275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035843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Holes in the core radiate and kill the resonance. Everything else here either adds loss of its own or never reaches the leaky lobe.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factor at a 20 </a:t>
            </a:r>
            <a:r>
              <a:rPr lang="en-US" sz="304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 and a -3 dB peak</a:t>
            </a:r>
            <a:endParaRPr lang="en-US" sz="3048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946391" y="1348740"/>
          <a:ext cx="6299220" cy="4199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0020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Each device lengthened until its peak is -3 dB at a 20 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mode. Lateral structures give about a third more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inverse design about 6×; the TE overshoot bar is projected.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Details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TE, TE versus TM, TM levers, inverse design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apodization reduces loss and widens the mode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Linear apodization: loss reduced, mode much wider.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Tanh gives the same gain with less widening.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few apodized periods are enough; more add nothing.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lab's overshoot apodization is far stronger, and only its amplitude sets the mode length.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shifting the innermost teeth recycles the leak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Shifting the innermost teeth outward reduces loss with the mode length unchanged.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Light that would leak at the cavity is redirected into the mode; the far field collapses to one lobe.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two tooth particle swarm design gave the best transmission per width.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 fabrication: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devices matched the same optimum, with slightly stronger coupling.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 versus TM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2628595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same length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TM couples more weakly, so lower loss, lower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wider mode.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335720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same peak transmission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TM is longer and its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about three times higher.</a:t>
            </a:r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42845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operating point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plain gratings tie. TM radiates in the propagation plane, TE upward.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the teeth behave as in TE, but the shift works differently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473964">
              <a:lnSpc>
                <a:spcPts val="2879"/>
              </a:lnSpc>
              <a:spcAft>
                <a:spcPts val="2409"/>
              </a:spcAft>
              <a:buSzPct val="100000"/>
              <a:buFont typeface="+mj-lt"/>
              <a:buAutoNum type="arabicPeriod" startAt="1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Apodization reduces loss, widens the mode, and saturates.</a:t>
            </a:r>
            <a:endParaRPr lang="en-US" sz="2328" dirty="0"/>
          </a:p>
          <a:p>
            <a:pPr algn="l" marL="473964" indent="-473964">
              <a:lnSpc>
                <a:spcPts val="2879"/>
              </a:lnSpc>
              <a:spcAft>
                <a:spcPts val="2409"/>
              </a:spcAft>
              <a:buSzPct val="100000"/>
              <a:buFont typeface="+mj-lt"/>
              <a:buAutoNum type="arabicPeriod" startAt="1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large shift of the innermost teeth widens the mode and shows no optimum; TM does not recycle at the cavity.</a:t>
            </a:r>
            <a:endParaRPr lang="en-US" sz="2328" dirty="0"/>
          </a:p>
          <a:p>
            <a:pPr algn="l" marL="473964" indent="-473964">
              <a:lnSpc>
                <a:spcPts val="2879"/>
              </a:lnSpc>
              <a:spcAft>
                <a:spcPts val="2409"/>
              </a:spcAft>
              <a:buSzPct val="100000"/>
              <a:buFont typeface="+mj-lt"/>
              <a:buAutoNum type="arabicPeriod" startAt="1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Once apodization saturates, small shifts on many teeth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add further gain at fixed width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the inverse design uses this.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trench reduces loss, a third more </a:t>
            </a: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benchmark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esearch_overview_deck_2026-09-13\build\trench_cross_section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2011052" y="1348740"/>
            <a:ext cx="8169897" cy="419948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70020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trench returns the in plane radiation by total internal reflection; the mode length is unchanged. A trench stopping at the core top keeps most of the gain in one lithography step.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row of SiN cylinders does the same, one lithography step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row is a weak grating: its period sets the beam angle,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clad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 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sin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𝜃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 =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eff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 − 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𝜆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/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Λ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Aimed at the radiation lobe, sliding the row sets the phase: one phase cancels the lobe, the opposite grows it.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second row on the other side adds a few percent; a third adds nothing.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what is optimized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3D adjoint optimization of the 25 innermost teeth per side (depth, width, shift), the cavity width and the cylinder row, TM.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96"/>
              </a:spcAft>
              <a:buNone/>
            </a:pPr>
            <a:r>
              <a:rPr lang="en-US" sz="2117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Objective</a:t>
            </a: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 peak transmission.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Constraints</a:t>
            </a: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 the mode length and the resonance wavelength are held fixed.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Width penalties and second moment proxies failed; projecting each gradient step onto both constraints works.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what it found so far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Transmission rises steadily with the resonance and the mode length held.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design is a gentle rise in corrugation toward the arms, a mild overshoot.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cylinder row does not move when freed: its optimum is separable and set analytically.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About 6× the plain grating at the operating point, still below the lab's TE overshoot.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Next steps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Restart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inverse design with more free teeth.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Adapt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overshoot apodization model to TM and use it as the starting point.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Open a TE lane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seeded from the overshoot profile, where the larger gains are.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Overview</dc:title>
  <dc:subject>PptxGenJS Presentation</dc:subject>
  <dc:creator>Evyatar Rubin</dc:creator>
  <cp:lastModifiedBy>Evyatar Rubin</cp:lastModifiedBy>
  <cp:revision>1</cp:revision>
  <dcterms:created xsi:type="dcterms:W3CDTF">2026-09-14T13:56:40Z</dcterms:created>
  <dcterms:modified xsi:type="dcterms:W3CDTF">2026-09-14T13:56:40Z</dcterms:modified>
</cp:coreProperties>
</file>