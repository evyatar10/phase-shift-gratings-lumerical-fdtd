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</c:v>
                </c:pt>
              </c:strCache>
            </c:strRef>
          </c:tx>
          <c:spPr>
            <a:solidFill>
              <a:srgbClr val="3333B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82" u="none">
                    <a:solidFill>
                      <a:srgbClr val="000000"/>
                    </a:solidFill>
                    <a:latin typeface="Latin Moder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plain, TE</c:v>
                  </c:pt>
                  <c:pt idx="1">
                    <c:v>plain, TM</c:v>
                  </c:pt>
                  <c:pt idx="2">
                    <c:v>SiN post row, TM</c:v>
                  </c:pt>
                  <c:pt idx="3">
                    <c:v>air trench, half depth, TM</c:v>
                  </c:pt>
                  <c:pt idx="4">
                    <c:v>SiN post rows, TM</c:v>
                  </c:pt>
                  <c:pt idx="5">
                    <c:v>air trench, full depth, TM</c:v>
                  </c:pt>
                  <c:pt idx="6">
                    <c:v>lab overshoot, TM</c:v>
                  </c:pt>
                  <c:pt idx="7">
                    <c:v>inverse design, TM</c:v>
                  </c:pt>
                  <c:pt idx="8">
                    <c:v>lab overshoot, TE (projected)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12903</c:v>
                </c:pt>
                <c:pt idx="1">
                  <c:v>13930</c:v>
                </c:pt>
                <c:pt idx="2">
                  <c:v>16203</c:v>
                </c:pt>
                <c:pt idx="3">
                  <c:v>16942</c:v>
                </c:pt>
                <c:pt idx="4">
                  <c:v>18093</c:v>
                </c:pt>
                <c:pt idx="5">
                  <c:v>18777</c:v>
                </c:pt>
                <c:pt idx="6">
                  <c:v>35000</c:v>
                </c:pt>
                <c:pt idx="7">
                  <c:v>88868</c:v>
                </c:pt>
                <c:pt idx="8">
                  <c:v>250000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82" u="none">
                  <a:solidFill>
                    <a:srgbClr val="000000"/>
                  </a:solidFill>
                  <a:latin typeface="Latin Modern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693" b="0" i="0" u="none" strike="noStrike">
                <a:solidFill>
                  <a:srgbClr val="000000"/>
                </a:solidFill>
                <a:latin typeface="Latin Moder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logBase val="10"/>
          <c:orientation val="minMax"/>
          <c:max val="1000000"/>
          <c:min val="10000"/>
        </c:scaling>
        <c:delete val="0"/>
        <c:axPos val="b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905" b="0" i="0" u="none" strike="noStrike">
                    <a:solidFill>
                      <a:srgbClr val="000000"/>
                    </a:solidFill>
                    <a:latin typeface="Latin Modern Sans"/>
                  </a:defRPr>
                </a:pPr>
                <a:r>
                  <a:rPr sz="1905" b="0" i="0" u="none" strike="noStrike">
                    <a:solidFill>
                      <a:srgbClr val="000000"/>
                    </a:solidFill>
                    <a:latin typeface="Latin Modern Sans"/>
                  </a:rPr>
                  <a:t>loaded Q (log scale)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693" b="0" i="0" u="none" strike="noStrike">
                <a:solidFill>
                  <a:srgbClr val="000000"/>
                </a:solidFill>
                <a:latin typeface="Latin Moder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193548" y="1283970"/>
            <a:ext cx="11804905" cy="1425702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193548" y="1341120"/>
            <a:ext cx="1180490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193548" y="2080260"/>
            <a:ext cx="1180490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subtitle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193548" y="3162300"/>
            <a:ext cx="1180490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Author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193548" y="4648200"/>
            <a:ext cx="1180490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Date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r>
              <a:rPr lang="en-US" dirty="0"/>
              <a:t> / 12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112776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r>
              <a:rPr lang="en-US" dirty="0"/>
              <a:t> / 12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457200" y="2286000"/>
            <a:ext cx="1127760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Section heading</a:t>
            </a:r>
            <a:endParaRPr lang="en-US" dirty="0"/>
          </a:p>
        </p:txBody>
      </p:sp>
      <p:sp>
        <p:nvSpPr>
          <p:cNvPr id="9" name="Text 6"/>
          <p:cNvSpPr/>
          <p:nvPr>
            <p:ph idx="107" type="body" hasCustomPrompt="1"/>
          </p:nvPr>
        </p:nvSpPr>
        <p:spPr>
          <a:xfrm>
            <a:off x="457200" y="3352800"/>
            <a:ext cx="1127760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3140"/>
              </a:lnSpc>
              <a:buNone/>
              <a:defRPr sz="254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Subheading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r>
              <a:rPr lang="en-US" dirty="0"/>
              <a:t> / 12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54102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6324601" y="1348740"/>
            <a:ext cx="54102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r>
              <a:rPr lang="en-US" dirty="0"/>
              <a:t> / 12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54102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 b="1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Heading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457200" y="1996440"/>
            <a:ext cx="5410201" cy="368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6324601" y="1348740"/>
            <a:ext cx="54102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 b="1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Heading</a:t>
            </a:r>
            <a:endParaRPr lang="en-US" dirty="0"/>
          </a:p>
        </p:txBody>
      </p:sp>
      <p:sp>
        <p:nvSpPr>
          <p:cNvPr id="13" name="Text 7"/>
          <p:cNvSpPr/>
          <p:nvPr>
            <p:ph idx="111" type="body" hasCustomPrompt="1"/>
          </p:nvPr>
        </p:nvSpPr>
        <p:spPr>
          <a:xfrm>
            <a:off x="6324601" y="1996440"/>
            <a:ext cx="5410201" cy="368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4" name="Text 7"/>
          <p:cNvSpPr/>
          <p:nvPr>
            <p:ph idx="112" type="body" hasCustomPrompt="1"/>
          </p:nvPr>
        </p:nvSpPr>
        <p:spPr>
          <a:xfrm>
            <a:off x="457200" y="5829301"/>
            <a:ext cx="1127760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Note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r>
              <a:rPr lang="en-US" dirty="0"/>
              <a:t> / 12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r>
              <a:rPr lang="en-US" dirty="0"/>
              <a:t> / 12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r>
              <a:rPr lang="en-US" dirty="0"/>
              <a:t> / 12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r>
              <a:rPr lang="en-US" dirty="0"/>
              <a:t> / 12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676656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7449313" y="1348740"/>
            <a:ext cx="4285488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r>
              <a:rPr lang="en-US" dirty="0"/>
              <a:t> / 12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gur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54102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pic" hasCustomPrompt="1"/>
          </p:nvPr>
        </p:nvSpPr>
        <p:spPr>
          <a:xfrm>
            <a:off x="6324601" y="1348740"/>
            <a:ext cx="54102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r>
              <a:rPr lang="en-US" dirty="0"/>
              <a:t> / 12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gures Stack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pic" hasCustomPrompt="1"/>
          </p:nvPr>
        </p:nvSpPr>
        <p:spPr>
          <a:xfrm>
            <a:off x="457200" y="3360420"/>
            <a:ext cx="11277601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r>
              <a:rPr lang="en-US" dirty="0"/>
              <a:t> / 12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r>
              <a:rPr lang="en-US" dirty="0"/>
              <a:t> / 12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1" hdr="0" ftr="0" dt="0"/>
  <p:txStyles>
    <p:titleStyle>
      <a:lvl1pPr algn="l" defTabSz="914400" rtl="0" eaLnBrk="1" latinLnBrk="0" hangingPunct="1">
        <a:spcBef>
          <a:spcPct val="0"/>
        </a:spcBef>
        <a:buNone/>
        <a:defRPr sz="30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73964" indent="-228600" algn="l" defTabSz="914400" rtl="0" eaLnBrk="1" latinLnBrk="0" hangingPunct="1">
        <a:spcBef>
          <a:spcPct val="20000"/>
        </a:spcBef>
        <a:buClr>
          <a:srgbClr val="3333B3"/>
        </a:buClr>
        <a:buSzPct val="80000"/>
        <a:buFont typeface="Arial" pitchFamily="34" charset="0"/>
        <a:buChar char="●"/>
        <a:defRPr sz="2328" kern="1200">
          <a:solidFill>
            <a:schemeClr val="tx1"/>
          </a:solidFill>
          <a:latin typeface="+mn-lt"/>
          <a:ea typeface="+mn-ea"/>
          <a:cs typeface="+mn-cs"/>
        </a:defRPr>
      </a:lvl1pPr>
      <a:lvl2pPr marL="893064" indent="-213360" algn="l" defTabSz="914400" rtl="0" eaLnBrk="1" latinLnBrk="0" hangingPunct="1">
        <a:spcBef>
          <a:spcPct val="20000"/>
        </a:spcBef>
        <a:buClr>
          <a:srgbClr val="3333B3"/>
        </a:buClr>
        <a:buSzPct val="70000"/>
        <a:buFont typeface="Arial" pitchFamily="34" charset="0"/>
        <a:buChar char="▸"/>
        <a:defRPr sz="2328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3548" y="1283970"/>
            <a:ext cx="11804905" cy="1425702"/>
          </a:xfrm>
          <a:prstGeom prst="roundRect">
            <a:avLst>
              <a:gd name="adj" fmla="val 7483"/>
            </a:avLst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  <a:effectLst>
            <a:outerShdw sx="100000" sy="100000" kx="0" ky="0" algn="bl" rotWithShape="0" blurRad="50800" dist="30480" dir="5400000">
              <a:srgbClr val="000000">
                <a:alpha val="45000"/>
              </a:srgbClr>
            </a:outerShdw>
          </a:effectLst>
        </p:spPr>
      </p:sp>
      <p:sp>
        <p:nvSpPr>
          <p:cNvPr id="3" name="Text 7"/>
          <p:cNvSpPr txBox="1"/>
          <p:nvPr>
            <p:ph idx="107" type="title" hasCustomPrompt="1"/>
          </p:nvPr>
        </p:nvSpPr>
        <p:spPr>
          <a:xfrm>
            <a:off x="193548" y="1479595"/>
            <a:ext cx="11804905" cy="55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10"/>
              </a:lnSpc>
              <a:buNone/>
            </a:pP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3048">
                    <ns0:latin typeface="Cambria Math"/>
                  </ns0:rPr>
                  <m:t>π</m:t>
                </m:r>
              </m:oMath>
            </a14:m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Shift Bragg Grating for Acousto Optic Sensing: Research Overview</a:t>
            </a:r>
            <a:endParaRPr lang="en-US" sz="3048" dirty="0"/>
          </a:p>
        </p:txBody>
      </p:sp>
      <p:sp>
        <p:nvSpPr>
          <p:cNvPr id="4" name="Text 7"/>
          <p:cNvSpPr txBox="1"/>
          <p:nvPr>
            <p:ph idx="108" type="body" hasCustomPrompt="1"/>
          </p:nvPr>
        </p:nvSpPr>
        <p:spPr>
          <a:xfrm>
            <a:off x="193548" y="2048432"/>
            <a:ext cx="11804905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What raises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Q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at a fixed 20 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μ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 mode, and what does not</a:t>
            </a:r>
            <a:endParaRPr lang="en-US" sz="2328" dirty="0"/>
          </a:p>
        </p:txBody>
      </p:sp>
      <p:sp>
        <p:nvSpPr>
          <p:cNvPr id="5" name="Text 7"/>
          <p:cNvSpPr txBox="1"/>
          <p:nvPr>
            <p:ph idx="109" type="body" hasCustomPrompt="1"/>
          </p:nvPr>
        </p:nvSpPr>
        <p:spPr>
          <a:xfrm>
            <a:off x="193548" y="3192194"/>
            <a:ext cx="11804905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2328" dirty="0"/>
          </a:p>
          <a:p>
            <a:pPr algn="ctr" indent="0" marL="0">
              <a:lnSpc>
                <a:spcPts val="2879"/>
              </a:lnSpc>
              <a:buNone/>
            </a:pPr>
            <a:r>
              <a:rPr lang="en-US" sz="2328" i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2328" dirty="0"/>
          </a:p>
        </p:txBody>
      </p:sp>
      <p:sp>
        <p:nvSpPr>
          <p:cNvPr id="6" name="Text 7"/>
          <p:cNvSpPr txBox="1"/>
          <p:nvPr>
            <p:ph idx="110" type="body" hasCustomPrompt="1"/>
          </p:nvPr>
        </p:nvSpPr>
        <p:spPr>
          <a:xfrm>
            <a:off x="193548" y="4699419"/>
            <a:ext cx="11804905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r>
              <a:rPr lang="en-US" dirty="0"/>
              <a:t> / 12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question: highest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3048">
                    <ns0:latin typeface="Cambria Math"/>
                  </ns0:rPr>
                  <m:t>Q</m:t>
                </m:r>
              </m:oMath>
            </a14:m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at a fixed 20 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3048">
                    <ns0:latin typeface="Cambria Math"/>
                  </ns0:rPr>
                  <m:t>μ</m:t>
                </m:r>
              </m:oMath>
            </a14:m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 mode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16912"/>
            <a:ext cx="11277601" cy="3040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73964" indent="-228600">
              <a:lnSpc>
                <a:spcPts val="2879"/>
              </a:lnSpc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Device: a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π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shift Bragg grating in SiN (350 nm core), simulated in 3D FDTD.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011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Spec: a 20 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μ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 spatial mode. Each device is lengthened until its peak transmission is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−3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 dB, and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Q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is compared there.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011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Materials are lossless, so every gain in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Q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is a reduction of radiation.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011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Both polarizations were studied; the useful levers differ between them.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r>
              <a:rPr lang="en-US" dirty="0"/>
              <a:t> / 12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Bottom line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16912"/>
            <a:ext cx="11277601" cy="376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73964" indent="-228600">
              <a:lnSpc>
                <a:spcPts val="2879"/>
              </a:lnSpc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Plain TE and TM gratings reach the same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Q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at the operating point.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011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Every change to the teeth trades loss against mode width; only the cavity and lateral structures escape that trade.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011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 radiates in the propagation plane, so an air trench or a row of SiN posts beside the guide raises its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Q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by about a third. TE does not respond.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011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Inverse design of the innermost teeth at a fixed width gives about 6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×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; it is in progress and still below the lab's overshoot apodization.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r>
              <a:rPr lang="en-US" dirty="0"/>
              <a:t> / 12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TE: apodization and tooth shifts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294052"/>
            <a:ext cx="11277601" cy="463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73964" indent="-228600">
              <a:lnSpc>
                <a:spcPts val="2879"/>
              </a:lnSpc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Linear apodization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cuts loss but widens the mode; </a:t>
            </a: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tanh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apodization widens less for the same gain.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2409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lab's </a:t>
            </a: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overshoot apodization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is a different regime: the corrugation overshoots, then settles. It is the strongest lever known; only its amplitude sets the mode width.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2409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Shifting the innermost teeth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outward cuts loss with the mode width unchanged: the shifted teeth recycle light that would leak at the cavity, and the far field collapses to one lobe.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2409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Two tooth inverse design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(particle swarm on the two innermost teeth and the cavity) gave the best transmission per unit width; a gradient method was not needed. Fabricated devices confirmed the shift range.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r>
              <a:rPr lang="en-US" dirty="0"/>
              <a:t> / 12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TE versus TM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16912"/>
            <a:ext cx="11277601" cy="376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73964" indent="-228600">
              <a:lnSpc>
                <a:spcPts val="2879"/>
              </a:lnSpc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At equal length TM couples more weakly to the corrugation: less loss, lower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Q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wider mode.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011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 can therefore be made longer; at equal peak transmission its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Q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is about three times higher.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011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At the operating point the two plain gratings tie.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011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 radiates in the propagation plane, TE upward. That is why the lateral levers below work only for TM.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r>
              <a:rPr lang="en-US" dirty="0"/>
              <a:t> / 12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TM: the teeth behave as in TE, with one difference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16912"/>
            <a:ext cx="11277601" cy="340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73964" indent="-228600">
              <a:lnSpc>
                <a:spcPts val="2879"/>
              </a:lnSpc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Apodization cuts loss and widens the mode, as in TE.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011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large innermost tooth shift raises transmission but widens the mode, with no optimum: TM does not recycle at the cavity.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011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Small shifts spread over many teeth do help, but only inside the width constrained inverse design.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011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wider cavity cuts loss without widening the mode; fancier cavity shapes add nothing.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r>
              <a:rPr lang="en-US" dirty="0"/>
              <a:t> / 12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TM: an air trench raises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3048">
                    <ns0:latin typeface="Cambria Math"/>
                  </ns0:rPr>
                  <m:t>Q</m:t>
                </m:r>
              </m:oMath>
            </a14:m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by a third</a:t>
            </a:r>
            <a:endParaRPr lang="en-US" sz="3048" dirty="0"/>
          </a:p>
        </p:txBody>
      </p:sp>
      <p:pic>
        <p:nvPicPr>
          <p:cNvPr id="3" name="Image 0" descr="C:\Users\evyat\Lumerical\phase_shift_grating_FTDT_codes\docs\research_overview_deck_2026-09-13\build\trench_cross_sections.png">    </p:cNvPr>
          <p:cNvPicPr>
            <a:picLocks noChangeAspect="1"/>
          </p:cNvPicPr>
          <p:nvPr>
            <p:ph idx="108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457200" y="2270689"/>
            <a:ext cx="6315457" cy="3246263"/>
          </a:xfrm>
          <a:prstGeom prst="rect">
            <a:avLst/>
          </a:prstGeom>
        </p:spPr>
      </p:pic>
      <p:sp>
        <p:nvSpPr>
          <p:cNvPr id="4" name="Text 7"/>
          <p:cNvSpPr txBox="1"/>
          <p:nvPr>
            <p:ph idx="109" type="body" hasCustomPrompt="1"/>
          </p:nvPr>
        </p:nvSpPr>
        <p:spPr>
          <a:xfrm>
            <a:off x="7077457" y="1287360"/>
            <a:ext cx="4657344" cy="383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8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An air trench beside the guide returns the in plane radiation by total internal reflection. Transmission and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Q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rise; the mode width is unchanged.</a:t>
            </a:r>
            <a:endParaRPr lang="en-US" sz="1905" dirty="0"/>
          </a:p>
          <a:p>
            <a:pPr algn="l" indent="0" marL="0">
              <a:lnSpc>
                <a:spcPts val="2328"/>
              </a:lnSpc>
              <a:spcBef>
                <a:spcPts val="2108"/>
              </a:spcBef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trench stopping at the core top keeps about 60 % of the gain in a single lithography step.</a:t>
            </a:r>
            <a:endParaRPr lang="en-US" sz="1905" dirty="0"/>
          </a:p>
          <a:p>
            <a:pPr algn="l" indent="0" marL="0">
              <a:lnSpc>
                <a:spcPts val="2879"/>
              </a:lnSpc>
              <a:spcBef>
                <a:spcPts val="2108"/>
              </a:spcBef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deep trench conflicts with the PDMS cover of the acoustic sensor, which motivated the post rows.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r>
              <a:rPr lang="en-US" dirty="0"/>
              <a:t> / 12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TM: a row of SiN posts does the trench's job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16912"/>
            <a:ext cx="11277601" cy="449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73964" indent="-228600">
              <a:lnSpc>
                <a:spcPts val="2879"/>
              </a:lnSpc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periodic row of posts in the cladding is a weak grating for the guided light; its period sets the angle of the beam it sends out, </a:t>
            </a: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ns0:rPr xmlns:ns0="http://schemas.openxmlformats.org/drawingml/2006/main" lang="en-US" sz="2328">
                        <ns0:latin typeface="Cambria Math"/>
                      </ns0:rPr>
                      <m:t>n</m:t>
                    </m:r>
                  </m:e>
                  <m:sub>
                    <m:r>
                      <m:rPr>
                        <m:sty m:val="p"/>
                      </m:rPr>
                      <ns0:rPr xmlns:ns0="http://schemas.openxmlformats.org/drawingml/2006/main" lang="en-US" sz="2328">
                        <ns0:latin typeface="Cambria Math"/>
                      </ns0:rPr>
                      <m:t>clad</m:t>
                    </m:r>
                  </m:sub>
                </m:sSub>
                <m:r>
                  <m:rPr>
                    <m:sty m:val="p"/>
                  </m:rPr>
                  <ns0:rPr xmlns:ns0="http://schemas.openxmlformats.org/drawingml/2006/main" lang="en-US" sz="2328">
                    <ns0:latin typeface="Cambria Math"/>
                  </ns0:rPr>
                  <m:t>sin</m:t>
                </m:r>
                <m:r>
                  <ns0:rPr xmlns:ns0="http://schemas.openxmlformats.org/drawingml/2006/main" lang="en-US" sz="2328">
                    <ns0:latin typeface="Cambria Math"/>
                  </ns0:rPr>
                  <m:t>θ=</m:t>
                </m:r>
                <m:sSub>
                  <m:e>
                    <m:r>
                      <ns0:rPr xmlns:ns0="http://schemas.openxmlformats.org/drawingml/2006/main" lang="en-US" sz="2328">
                        <ns0:latin typeface="Cambria Math"/>
                      </ns0:rPr>
                      <m:t>n</m:t>
                    </m:r>
                  </m:e>
                  <m:sub>
                    <m:r>
                      <m:rPr>
                        <m:sty m:val="p"/>
                      </m:rPr>
                      <ns0:rPr xmlns:ns0="http://schemas.openxmlformats.org/drawingml/2006/main" lang="en-US" sz="2328">
                        <ns0:latin typeface="Cambria Math"/>
                      </ns0:rPr>
                      <m:t>eff</m:t>
                    </m:r>
                  </m:sub>
                </m:sSub>
                <m:r>
                  <ns0:rPr xmlns:ns0="http://schemas.openxmlformats.org/drawingml/2006/main" lang="en-US" sz="2328">
                    <ns0:latin typeface="Cambria Math"/>
                  </ns0:rPr>
                  <m:t>−λ/Λ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011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With the period chosen so that beam lands on the radiation lobe, sliding the row along the guide sets the interference phase: at one phase the lobe is cancelled, at the opposite phase it grows.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011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At the first phase we tried the row hurt; sweeping the phase found the cancelling one, and there the row matches the trench.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011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second row on the other side of the cavity adds only a few percent, and a third adds nothing: the guided power far from the cavity is too weak to cancel with.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r>
              <a:rPr lang="en-US" dirty="0"/>
              <a:t> / 12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3048">
                    <ns0:latin typeface="Cambria Math"/>
                  </ns0:rPr>
                  <m:t>Q</m:t>
                </m:r>
              </m:oMath>
            </a14:m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at the operating point</a:t>
            </a:r>
            <a:endParaRPr lang="en-US" sz="3048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946391" y="1360170"/>
          <a:ext cx="6299220" cy="4199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711630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Every device at a 20 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μ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 mode and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−3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 dB peak, 350 nm SiN core,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λ≈1560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 nm. The lab's TE overshoot is projected from its measured intrinsic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Q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(2 to 3.4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×</m:t>
                </m:r>
                <m:sSup>
                  <m:e>
                    <m:r>
                      <ns0:rPr xmlns:ns0="http://schemas.openxmlformats.org/drawingml/2006/main" lang="en-US" sz="1905">
                        <ns0:latin typeface="Cambria Math"/>
                      </ns0:rPr>
                      <m:t>10</m:t>
                    </m:r>
                  </m:e>
                  <m:sup>
                    <m:r>
                      <ns0:rPr xmlns:ns0="http://schemas.openxmlformats.org/drawingml/2006/main" lang="en-US" sz="1905">
                        <ns0:latin typeface="Cambria Math"/>
                      </ns0:rPr>
                      <m:t>5</m:t>
                    </m:r>
                  </m:sup>
                </m:sSup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), not simulated at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−3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 dB.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r>
              <a:rPr lang="en-US" dirty="0"/>
              <a:t> / 12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What does not work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16912"/>
            <a:ext cx="11277601" cy="376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73964" indent="-228600">
              <a:lnSpc>
                <a:spcPts val="2879"/>
              </a:lnSpc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Reflectors of every kind: SiN Bragg walls, photonic crystal walls, metal mirrors, retro reflecting post rows.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011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Holes inside the core; Huygens and Kerker scatterers; bound state pairs.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011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second cavity beside the first; shaped trenches; exotic innermost teeth; spreading the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π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shift over many gaps.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011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All measured, all null or harmful. Radiation in TM is spread along the arms, so nothing local to the cavity can remove it.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r>
              <a:rPr lang="en-US" dirty="0"/>
              <a:t> / 12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Inverse design: in progress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16912"/>
            <a:ext cx="11277601" cy="4132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73964" indent="-228600">
              <a:lnSpc>
                <a:spcPts val="2879"/>
              </a:lnSpc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3D adjoint optimization of the 25 innermost teeth per side (depth, width, shift) and the cavity, TM, with the post row included.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011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Cost: peak transmission at a fixed mode width and a fixed resonance. Both are held by projecting each gradient step, after simpler width penalties failed.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011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It improves steadily; the design so far is a gentle rise in corrugation toward the arms, and the posts do not move.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011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About 6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×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the plain grating at the operating point, still below the lab's TE overshoot. Next: more free teeth, then a TE run seeded from the overshoot profile.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r>
              <a:rPr lang="en-US" dirty="0"/>
              <a:t> / 12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Status</a:t>
            </a:r>
            <a:endParaRPr lang="en-US" sz="3048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94121"/>
          <a:ext cx="11277601" cy="3599399"/>
        </p:xfrm>
        <a:graphic>
          <a:graphicData uri="http://schemas.openxmlformats.org/drawingml/2006/table">
            <a:tbl>
              <a:tblPr/>
              <a:tblGrid>
                <a:gridCol w="4059936"/>
                <a:gridCol w="1804416"/>
                <a:gridCol w="5413249"/>
              </a:tblGrid>
              <a:tr h="4499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40"/>
                        </a:lnSpc>
                        <a:buNone/>
                      </a:pPr>
                      <a:r>
                        <a:rPr lang="en-US" sz="2117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direction</a:t>
                      </a:r>
                      <a:endParaRPr lang="en-US" sz="2117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40"/>
                        </a:lnSpc>
                        <a:buNone/>
                      </a:pPr>
                      <a:r>
                        <a:rPr lang="en-US" sz="2117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status</a:t>
                      </a:r>
                      <a:endParaRPr lang="en-US" sz="2117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40"/>
                        </a:lnSpc>
                        <a:buNone/>
                      </a:pPr>
                      <a:r>
                        <a:rPr lang="en-US" sz="2117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verdict</a:t>
                      </a:r>
                      <a:endParaRPr lang="en-US" sz="2117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9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40"/>
                        </a:lnSpc>
                        <a:buNone/>
                      </a:pPr>
                      <a:r>
                        <a:rPr lang="en-US" sz="2117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apodization, tooth shifts</a:t>
                      </a:r>
                      <a:endParaRPr lang="en-US" sz="2117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40"/>
                        </a:lnSpc>
                        <a:buNone/>
                      </a:pPr>
                      <a:r>
                        <a:rPr lang="en-US" sz="2117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closed</a:t>
                      </a:r>
                      <a:endParaRPr lang="en-US" sz="2117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40"/>
                        </a:lnSpc>
                        <a:buNone/>
                      </a:pPr>
                      <a:r>
                        <a:rPr lang="en-US" sz="2117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work, at a cost in width</a:t>
                      </a:r>
                      <a:endParaRPr lang="en-US" sz="2117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99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40"/>
                        </a:lnSpc>
                        <a:buNone/>
                      </a:pPr>
                      <a:r>
                        <a:rPr lang="en-US" sz="2117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two tooth inverse design (TE)</a:t>
                      </a:r>
                      <a:endParaRPr lang="en-US" sz="2117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40"/>
                        </a:lnSpc>
                        <a:buNone/>
                      </a:pPr>
                      <a:r>
                        <a:rPr lang="en-US" sz="2117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closed</a:t>
                      </a:r>
                      <a:endParaRPr lang="en-US" sz="2117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40"/>
                        </a:lnSpc>
                        <a:buNone/>
                      </a:pPr>
                      <a:r>
                        <a:rPr lang="en-US" sz="2117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best transmission per width</a:t>
                      </a:r>
                      <a:endParaRPr lang="en-US" sz="2117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99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40"/>
                        </a:lnSpc>
                        <a:buNone/>
                      </a:pPr>
                      <a:r>
                        <a:rPr lang="en-US" sz="2117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cavity width (TM)</a:t>
                      </a:r>
                      <a:endParaRPr lang="en-US" sz="2117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40"/>
                        </a:lnSpc>
                        <a:buNone/>
                      </a:pPr>
                      <a:r>
                        <a:rPr lang="en-US" sz="2117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closed</a:t>
                      </a:r>
                      <a:endParaRPr lang="en-US" sz="2117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40"/>
                        </a:lnSpc>
                        <a:buNone/>
                      </a:pPr>
                      <a:r>
                        <a:rPr lang="en-US" sz="2117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cuts loss, width unchanged</a:t>
                      </a:r>
                      <a:endParaRPr lang="en-US" sz="2117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99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40"/>
                        </a:lnSpc>
                        <a:buNone/>
                      </a:pPr>
                      <a:r>
                        <a:rPr lang="en-US" sz="2117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air trench (TM)</a:t>
                      </a:r>
                      <a:endParaRPr lang="en-US" sz="2117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40"/>
                        </a:lnSpc>
                        <a:buNone/>
                      </a:pPr>
                      <a:r>
                        <a:rPr lang="en-US" sz="2117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closed</a:t>
                      </a:r>
                      <a:endParaRPr lang="en-US" sz="2117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40"/>
                        </a:lnSpc>
                        <a:buNone/>
                      </a:pPr>
                      <a:r>
                        <a:rPr lang="en-US" sz="2117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Q</a:t>
                      </a:r>
                      <a:r>
                        <a:rPr lang="en-US" sz="2117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up a third, deep etch</a:t>
                      </a:r>
                      <a:endParaRPr lang="en-US" sz="2117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99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40"/>
                        </a:lnSpc>
                        <a:buNone/>
                      </a:pPr>
                      <a:r>
                        <a:rPr lang="en-US" sz="2117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SiN post rows (TM)</a:t>
                      </a:r>
                      <a:endParaRPr lang="en-US" sz="2117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40"/>
                        </a:lnSpc>
                        <a:buNone/>
                      </a:pPr>
                      <a:r>
                        <a:rPr lang="en-US" sz="2117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closed</a:t>
                      </a:r>
                      <a:endParaRPr lang="en-US" sz="2117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40"/>
                        </a:lnSpc>
                        <a:buNone/>
                      </a:pPr>
                      <a:r>
                        <a:rPr lang="en-US" sz="2117" i="1" dirty="0">
                          <a:solidFill>
                            <a:srgbClr val="000000"/>
                          </a:solidFill>
                          <a:latin typeface="Latin Modern Roman" pitchFamily="34" charset="0"/>
                          <a:ea typeface="Latin Modern Roman" pitchFamily="34" charset="-122"/>
                          <a:cs typeface="Latin Modern Roman" pitchFamily="34" charset="-120"/>
                        </a:rPr>
                        <a:t>Q</a:t>
                      </a:r>
                      <a:r>
                        <a:rPr lang="en-US" sz="2117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up a third, same litho</a:t>
                      </a:r>
                      <a:endParaRPr lang="en-US" sz="2117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99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40"/>
                        </a:lnSpc>
                        <a:buNone/>
                      </a:pPr>
                      <a:r>
                        <a:rPr lang="en-US" sz="2117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reflectors, holes, scatterers</a:t>
                      </a:r>
                      <a:endParaRPr lang="en-US" sz="2117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40"/>
                        </a:lnSpc>
                        <a:buNone/>
                      </a:pPr>
                      <a:r>
                        <a:rPr lang="en-US" sz="2117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closed</a:t>
                      </a:r>
                      <a:endParaRPr lang="en-US" sz="2117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40"/>
                        </a:lnSpc>
                        <a:buNone/>
                      </a:pPr>
                      <a:r>
                        <a:rPr lang="en-US" sz="2117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null or harmful</a:t>
                      </a:r>
                      <a:endParaRPr lang="en-US" sz="2117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99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40"/>
                        </a:lnSpc>
                        <a:buNone/>
                      </a:pPr>
                      <a:r>
                        <a:rPr lang="en-US" sz="2117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25 tooth inverse design (TM)</a:t>
                      </a:r>
                      <a:endParaRPr lang="en-US" sz="2117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40"/>
                        </a:lnSpc>
                        <a:buNone/>
                      </a:pPr>
                      <a:r>
                        <a:rPr lang="en-US" sz="2117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 progress</a:t>
                      </a:r>
                      <a:endParaRPr lang="en-US" sz="2117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40"/>
                        </a:lnSpc>
                        <a:buNone/>
                      </a:pPr>
                      <a:r>
                        <a:rPr lang="en-US" sz="2117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about 6</a:t>
                      </a:r>
                      <a:r>
                        <a:rPr lang="en-US" sz="2117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 × </a:t>
                      </a:r>
                      <a:r>
                        <a:rPr lang="en-US" sz="2117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, below lab overshoot</a:t>
                      </a:r>
                      <a:endParaRPr lang="en-US" sz="2117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r>
              <a:rPr lang="en-US" dirty="0"/>
              <a:t> / 12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atin Moder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in Moder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$\pi$ Shift Grating: Overview</dc:title>
  <dc:subject>PptxGenJS Presentation</dc:subject>
  <dc:creator>Evyatar Rubin</dc:creator>
  <cp:lastModifiedBy>Evyatar Rubin</cp:lastModifiedBy>
  <cp:revision>1</cp:revision>
  <dcterms:created xsi:type="dcterms:W3CDTF">2026-09-13T18:12:06Z</dcterms:created>
  <dcterms:modified xsi:type="dcterms:W3CDTF">2026-09-13T18:12:06Z</dcterms:modified>
</cp:coreProperties>
</file>