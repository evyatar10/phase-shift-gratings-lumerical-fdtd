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A: far-field amplitude in direction r-hat; Delta-epsilon = epsilon - n_ox^2; E: cavity field at resonance; k: wavenumber in oxide. X_lm: vector spherical harmonic (Jackson ch. 9). alpha_lm: magnetic coefficient, beta_lm: electric coefficient. Equivalently alpha_lm = 4 pi (-i)^l Int Delta-epsilon j_l(kr) X*_lm . E d^3r, the source form used to see how a local change moves a harmonic.
Equation (LaTeX source): \mathbf{A}(\hat{\mathbf{r}}) = (\mathrm{I}-\hat{\mathbf{r}}\hat{\mathbf{r}})\int \Delta\varepsilon\,\mathbf{E}\,e^{-ik\hat{\mathbf{r}} {\cdot} \mathbf{r}}\,d^3r
Equation (LaTeX source): \alpha_{lm}=\oint \mathbf{X}^*_{lm} {\cdot} \mathbf{A}\,d\Omega=4\pi(-i)^l\int\Delta\varepsilon \, j_l(kr) \, \mathbf{X}^*_{lm} {\cdot} \mathbf{E} \, d^3r
Equation (LaTeX source): \beta_{lm}=\oint (\hat{\mathbf{r}}\times\mathbf{X}_{lm})^* {\cdot} \mathbf{A}\,d\Omega=\frac{4\pi i(-i)^l}{k}\int\Delta\varepsilon \, \mathbf{E} {\cdot} \nabla\times\left[j_l(kr)\,\mathbf{X}^*_{lm}\right]d^3r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c: list of all alpha_lm and beta_lm of the cavity leak, normalized per unit stored energy, so ||c||^2 is proportional to 1/Q_rad (a feature that only lowers the coupling then cannot look like cancellation). b: change of all coefficients per unit knob strength q; it contains the feature's own radiation, the change of the cavity field and the resonance shift, so it is measured (two runs, +h and -h). Validity: the feature holds a small part of the mode energy.
Equation (LaTeX source): c(q)=c+q\,b,\qquad P(q)\propto\left|c+q\,b\right|^2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eta^2 is computed from a knob's measured response b and the measured leak c. No knob has been measured yet; the Part II tables assume ideal knobs, whose eta^2 equals the share of the harmonics they cancel.
Equation (LaTeX source): P(q)\propto\left|c\right|^2+2q\,\mathrm{Re}\langle b,c\rangle+q^2\left|b\right|^2
Equation (LaTeX source): \text{2. Lowest loss where the slope is zero: }\frac{dP}{dq}=0\;\Rightarrow\;q_{*}=-\frac{\mathrm{Re}\langle b,c\rangle}{\left|b\right|^2}
Equation (LaTeX source): \frac{P(q_{*})}{P_c}=1-\eta^2,\qquad \eta^2=\frac{(\mathrm{Re}\langle b,c\rangle)^2}{\left|b\right|^2\left|c\right|^2}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8" name="Shape 6"/>
          <p:cNvSpPr/>
          <p:nvPr/>
        </p:nvSpPr>
        <p:spPr>
          <a:xfrm>
            <a:off x="193548" y="1283970"/>
            <a:ext cx="11804905" cy="1425702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193548" y="1341120"/>
            <a:ext cx="11804905" cy="723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ctr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193548" y="2080260"/>
            <a:ext cx="1180490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ctr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subtitle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193548" y="3162300"/>
            <a:ext cx="11804905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Author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193548" y="4648200"/>
            <a:ext cx="1180490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Date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1348740"/>
            <a:ext cx="112776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473964" indent="-22860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 marL="893064" indent="-21336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8" name="Text 6"/>
          <p:cNvSpPr/>
          <p:nvPr>
            <p:ph idx="106" type="title" hasCustomPrompt="1"/>
          </p:nvPr>
        </p:nvSpPr>
        <p:spPr>
          <a:xfrm>
            <a:off x="457200" y="2286000"/>
            <a:ext cx="1127760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ctr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Section heading</a:t>
            </a:r>
            <a:endParaRPr lang="en-US" dirty="0"/>
          </a:p>
        </p:txBody>
      </p:sp>
      <p:sp>
        <p:nvSpPr>
          <p:cNvPr id="9" name="Text 6"/>
          <p:cNvSpPr/>
          <p:nvPr>
            <p:ph idx="107" type="body" hasCustomPrompt="1"/>
          </p:nvPr>
        </p:nvSpPr>
        <p:spPr>
          <a:xfrm>
            <a:off x="457200" y="3352800"/>
            <a:ext cx="1127760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ctr" marL="0" indent="0">
              <a:lnSpc>
                <a:spcPts val="3140"/>
              </a:lnSpc>
              <a:buNone/>
              <a:defRPr sz="254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Subheading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1348740"/>
            <a:ext cx="54102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 marL="893064" indent="-21336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6324601" y="1348740"/>
            <a:ext cx="54102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 marL="893064" indent="-21336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body" hasCustomPrompt="1"/>
          </p:nvPr>
        </p:nvSpPr>
        <p:spPr>
          <a:xfrm>
            <a:off x="457200" y="1348740"/>
            <a:ext cx="54102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Heading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457200" y="1996440"/>
            <a:ext cx="5410201" cy="3680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 marL="893064" indent="-21336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6324601" y="1348740"/>
            <a:ext cx="5410201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Heading</a:t>
            </a:r>
            <a:endParaRPr lang="en-US" dirty="0"/>
          </a:p>
        </p:txBody>
      </p:sp>
      <p:sp>
        <p:nvSpPr>
          <p:cNvPr id="13" name="Text 7"/>
          <p:cNvSpPr/>
          <p:nvPr>
            <p:ph idx="111" type="body" hasCustomPrompt="1"/>
          </p:nvPr>
        </p:nvSpPr>
        <p:spPr>
          <a:xfrm>
            <a:off x="6324601" y="1996440"/>
            <a:ext cx="5410201" cy="3680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473964" indent="-22860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  <a:defRPr sz="2328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  <a:lvl2pPr algn="l" marL="893064" indent="-213360">
              <a:lnSpc>
                <a:spcPts val="2879"/>
              </a:lnSpc>
              <a:spcAft>
                <a:spcPts val="2392"/>
              </a:spcAft>
              <a:buClr>
                <a:srgbClr val="3333B3"/>
              </a:buClr>
              <a:buSzPct val="70000"/>
              <a:buFont typeface="Arial" pitchFamily="34" charset="0"/>
              <a:buChar char="▸"/>
              <a:defRPr sz="2328">
                <a:solidFill>
                  <a:srgbClr val="000000"/>
                </a:solidFill>
                <a:latin typeface="Arial"/>
                <a:ea typeface="Arial"/>
                <a:cs typeface="Arial"/>
              </a:defRPr>
            </a:lvl2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14" name="Text 7"/>
          <p:cNvSpPr/>
          <p:nvPr>
            <p:ph idx="112" type="body" hasCustomPrompt="1"/>
          </p:nvPr>
        </p:nvSpPr>
        <p:spPr>
          <a:xfrm>
            <a:off x="457200" y="5829301"/>
            <a:ext cx="11277601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Note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1006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1007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6" name="Text 4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1008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11277601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457200" y="5372101"/>
            <a:ext cx="112776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caption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1009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676656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body" hasCustomPrompt="1"/>
          </p:nvPr>
        </p:nvSpPr>
        <p:spPr>
          <a:xfrm>
            <a:off x="7449313" y="1348740"/>
            <a:ext cx="4285488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text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1010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gures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5410201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pic" hasCustomPrompt="1"/>
          </p:nvPr>
        </p:nvSpPr>
        <p:spPr>
          <a:xfrm>
            <a:off x="6324601" y="1348740"/>
            <a:ext cx="5410201" cy="387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457200" y="5372101"/>
            <a:ext cx="112776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caption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1011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gures Stacke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11277601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1" name="Text 7"/>
          <p:cNvSpPr/>
          <p:nvPr>
            <p:ph idx="109" type="pic" hasCustomPrompt="1"/>
          </p:nvPr>
        </p:nvSpPr>
        <p:spPr>
          <a:xfrm>
            <a:off x="457200" y="3360420"/>
            <a:ext cx="11277601" cy="1859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12" name="Text 7"/>
          <p:cNvSpPr/>
          <p:nvPr>
            <p:ph idx="110" type="body" hasCustomPrompt="1"/>
          </p:nvPr>
        </p:nvSpPr>
        <p:spPr>
          <a:xfrm>
            <a:off x="457200" y="5372101"/>
            <a:ext cx="11277601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355"/>
              </a:lnSpc>
              <a:buNone/>
              <a:defRPr sz="1905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caption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1012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gur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73914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629401"/>
            <a:ext cx="4064000" cy="228600"/>
          </a:xfrm>
          <a:prstGeom prst="rect">
            <a:avLst/>
          </a:prstGeom>
          <a:solidFill>
            <a:srgbClr val="C2C2E8"/>
          </a:solidFill>
          <a:ln w="12700">
            <a:solidFill>
              <a:srgbClr val="C2C2E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solidFill>
            <a:srgbClr val="CCCCEC"/>
          </a:solidFill>
          <a:ln w="12700">
            <a:solidFill>
              <a:srgbClr val="CCCCE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1" y="6629401"/>
            <a:ext cx="4064000" cy="228600"/>
          </a:xfrm>
          <a:prstGeom prst="rect">
            <a:avLst/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Evyatar Rubin</a:t>
            </a:r>
            <a:endParaRPr lang="en-US" sz="1270" dirty="0"/>
          </a:p>
        </p:txBody>
      </p:sp>
      <p:sp>
        <p:nvSpPr>
          <p:cNvPr id="7" name="Text 5"/>
          <p:cNvSpPr txBox="1"/>
          <p:nvPr/>
        </p:nvSpPr>
        <p:spPr>
          <a:xfrm>
            <a:off x="4064000" y="6629401"/>
            <a:ext cx="406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Radiation Cancellation</a:t>
            </a:r>
            <a:endParaRPr lang="en-US" sz="1270" dirty="0"/>
          </a:p>
        </p:txBody>
      </p:sp>
      <p:sp>
        <p:nvSpPr>
          <p:cNvPr id="8" name="Text 6"/>
          <p:cNvSpPr txBox="1"/>
          <p:nvPr/>
        </p:nvSpPr>
        <p:spPr>
          <a:xfrm>
            <a:off x="8326121" y="6629401"/>
            <a:ext cx="3134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7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12, 2026</a:t>
            </a:r>
            <a:endParaRPr lang="en-US" sz="1270" dirty="0"/>
          </a:p>
        </p:txBody>
      </p:sp>
      <p:sp>
        <p:nvSpPr>
          <p:cNvPr id="9" name="Text 7"/>
          <p:cNvSpPr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algn="l" marL="0" indent="0">
              <a:lnSpc>
                <a:spcPts val="3768"/>
              </a:lnSpc>
              <a:buNone/>
              <a:defRPr sz="3048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to add title</a:t>
            </a:r>
            <a:endParaRPr lang="en-US" dirty="0"/>
          </a:p>
        </p:txBody>
      </p:sp>
      <p:sp>
        <p:nvSpPr>
          <p:cNvPr id="10" name="Text 7"/>
          <p:cNvSpPr/>
          <p:nvPr>
            <p:ph idx="108" type="pic" hasCustomPrompt="1"/>
          </p:nvPr>
        </p:nvSpPr>
        <p:spPr>
          <a:xfrm>
            <a:off x="457200" y="1348740"/>
            <a:ext cx="11277601" cy="50901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marL="0" indent="0">
              <a:lnSpc>
                <a:spcPts val="2879"/>
              </a:lnSpc>
              <a:buNone/>
              <a:defRPr sz="2328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r>
              <a:rPr lang="en-US" dirty="0">
                <a:solidFill>
                  <a:srgbClr val="000000"/>
                </a:solidFill>
              </a:rPr>
              <a:t>Click icon to add picture</a:t>
            </a: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1013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7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1" hdr="0" ftr="0" dt="0"/>
  <p:txStyles>
    <p:titleStyle>
      <a:lvl1pPr algn="l" defTabSz="914400" rtl="0" eaLnBrk="1" latinLnBrk="0" hangingPunct="1">
        <a:spcBef>
          <a:spcPct val="0"/>
        </a:spcBef>
        <a:buNone/>
        <a:defRPr sz="304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73964" indent="-228600" algn="l" defTabSz="914400" rtl="0" eaLnBrk="1" latinLnBrk="0" hangingPunct="1">
        <a:spcBef>
          <a:spcPct val="20000"/>
        </a:spcBef>
        <a:buClr>
          <a:srgbClr val="3333B3"/>
        </a:buClr>
        <a:buSzPct val="80000"/>
        <a:buFont typeface="Arial" pitchFamily="34" charset="0"/>
        <a:buChar char="●"/>
        <a:defRPr sz="2328" kern="1200">
          <a:solidFill>
            <a:schemeClr val="tx1"/>
          </a:solidFill>
          <a:latin typeface="+mn-lt"/>
          <a:ea typeface="+mn-ea"/>
          <a:cs typeface="+mn-cs"/>
        </a:defRPr>
      </a:lvl1pPr>
      <a:lvl2pPr marL="893064" indent="-213360" algn="l" defTabSz="914400" rtl="0" eaLnBrk="1" latinLnBrk="0" hangingPunct="1">
        <a:spcBef>
          <a:spcPct val="20000"/>
        </a:spcBef>
        <a:buClr>
          <a:srgbClr val="3333B3"/>
        </a:buClr>
        <a:buSzPct val="70000"/>
        <a:buFont typeface="Arial" pitchFamily="34" charset="0"/>
        <a:buChar char="▸"/>
        <a:defRPr sz="2328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93548" y="1283970"/>
            <a:ext cx="11804905" cy="1425702"/>
          </a:xfrm>
          <a:prstGeom prst="roundRect">
            <a:avLst>
              <a:gd name="adj" fmla="val 7483"/>
            </a:avLst>
          </a:prstGeom>
          <a:solidFill>
            <a:srgbClr val="D6D6F0"/>
          </a:solidFill>
          <a:ln w="12700">
            <a:solidFill>
              <a:srgbClr val="D6D6F0"/>
            </a:solidFill>
            <a:prstDash val="solid"/>
          </a:ln>
          <a:effectLst>
            <a:outerShdw sx="100000" sy="100000" kx="0" ky="0" algn="bl" rotWithShape="0" blurRad="50800" dist="30480" dir="5400000">
              <a:srgbClr val="000000">
                <a:alpha val="45000"/>
              </a:srgbClr>
            </a:outerShdw>
          </a:effectLst>
        </p:spPr>
      </p:sp>
      <p:sp>
        <p:nvSpPr>
          <p:cNvPr id="3" name="Text 7"/>
          <p:cNvSpPr txBox="1"/>
          <p:nvPr>
            <p:ph idx="107" type="title" hasCustomPrompt="1"/>
          </p:nvPr>
        </p:nvSpPr>
        <p:spPr>
          <a:xfrm>
            <a:off x="193548" y="1479595"/>
            <a:ext cx="11804905" cy="558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Radiation Cancellation</a:t>
            </a:r>
            <a:endParaRPr lang="en-US" sz="3048" dirty="0"/>
          </a:p>
        </p:txBody>
      </p:sp>
      <p:sp>
        <p:nvSpPr>
          <p:cNvPr id="4" name="Text 7"/>
          <p:cNvSpPr txBox="1"/>
          <p:nvPr>
            <p:ph idx="108" type="body" hasCustomPrompt="1"/>
          </p:nvPr>
        </p:nvSpPr>
        <p:spPr>
          <a:xfrm>
            <a:off x="193548" y="2048432"/>
            <a:ext cx="11804905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79"/>
              </a:lnSpc>
              <a:buNone/>
            </a:pP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multipole model of the leak from </a:t>
            </a:r>
            <a:r>
              <a:rPr lang="en-US" sz="2328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𝜋</a:t>
            </a: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shift Bragg grating cavities</a:t>
            </a:r>
            <a:endParaRPr lang="en-US" sz="2328" dirty="0"/>
          </a:p>
        </p:txBody>
      </p:sp>
      <p:sp>
        <p:nvSpPr>
          <p:cNvPr id="5" name="Text 7"/>
          <p:cNvSpPr txBox="1"/>
          <p:nvPr>
            <p:ph idx="109" type="body" hasCustomPrompt="1"/>
          </p:nvPr>
        </p:nvSpPr>
        <p:spPr>
          <a:xfrm>
            <a:off x="193548" y="3192194"/>
            <a:ext cx="11804905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79"/>
              </a:lnSpc>
              <a:buNone/>
            </a:pP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Evyatar Rubin</a:t>
            </a:r>
            <a:endParaRPr lang="en-US" sz="2328" dirty="0"/>
          </a:p>
          <a:p>
            <a:pPr algn="ctr" indent="0" marL="0">
              <a:lnSpc>
                <a:spcPts val="2879"/>
              </a:lnSpc>
              <a:buNone/>
            </a:pPr>
            <a:r>
              <a:rPr lang="en-US" sz="2328" i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Update</a:t>
            </a:r>
            <a:endParaRPr lang="en-US" sz="2328" dirty="0"/>
          </a:p>
        </p:txBody>
      </p:sp>
      <p:sp>
        <p:nvSpPr>
          <p:cNvPr id="6" name="Text 7"/>
          <p:cNvSpPr txBox="1"/>
          <p:nvPr>
            <p:ph idx="110" type="body" hasCustomPrompt="1"/>
          </p:nvPr>
        </p:nvSpPr>
        <p:spPr>
          <a:xfrm>
            <a:off x="193548" y="4699419"/>
            <a:ext cx="11804905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79"/>
              </a:lnSpc>
              <a:buNone/>
            </a:pP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October 12, 2026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conclusions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48740"/>
            <a:ext cx="11277601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593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leak splits into electric and magnetic harmonics.</a:t>
            </a:r>
            <a:endParaRPr lang="en-US" sz="2328" dirty="0"/>
          </a:p>
          <a:p>
            <a:pPr algn="l" marL="473964" indent="0">
              <a:lnSpc>
                <a:spcPts val="2540"/>
              </a:lnSpc>
              <a:spcAft>
                <a:spcPts val="2409"/>
              </a:spcAft>
              <a:buNone/>
            </a:pPr>
            <a:r>
              <a:rPr lang="en-US" sz="211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small geometry change shifts each harmonic linearly, so several knobs are set by one linear solve.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593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plain TE leak is mostly beyond the dipole.</a:t>
            </a:r>
            <a:endParaRPr lang="en-US" sz="2328" dirty="0"/>
          </a:p>
          <a:p>
            <a:pPr algn="l" marL="473964" indent="0">
              <a:lnSpc>
                <a:spcPts val="2540"/>
              </a:lnSpc>
              <a:spcAft>
                <a:spcPts val="2409"/>
              </a:spcAft>
              <a:buNone/>
            </a:pPr>
            <a:r>
              <a:rPr lang="en-US" sz="211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Dipoles carry 14 % of it; 95 % lies in the first five orders.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TE: ten cancelled harmonics could raise </a:t>
            </a:r>
            <a:r>
              <a:rPr lang="en-US" sz="2328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r>
              <a:rPr lang="en-US" sz="232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-3 dB from 12 900 to about 10</a:t>
            </a:r>
            <a:r>
              <a:rPr lang="en-US" sz="2328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r>
              <a:rPr lang="en-US" sz="232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593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Overshoot (</a:t>
            </a:r>
            <a:r>
              <a:rPr lang="en-US" sz="2328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r>
              <a:rPr lang="en-US" sz="232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≈ 2 × 10</a:t>
            </a:r>
            <a:r>
              <a:rPr lang="en-US" sz="2328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r>
              <a:rPr lang="en-US" sz="232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): twenty harmonics would add about 20 %.</a:t>
            </a:r>
            <a:endParaRPr lang="en-US" sz="2328" dirty="0"/>
          </a:p>
          <a:p>
            <a:pPr algn="l" marL="473964" indent="0">
              <a:lnSpc>
                <a:spcPts val="2540"/>
              </a:lnSpc>
              <a:spcAft>
                <a:spcPts val="2409"/>
              </a:spcAft>
              <a:buNone/>
            </a:pPr>
            <a:r>
              <a:rPr lang="en-US" sz="2117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Radiation is only part of its loss; removing all of it gives ×1.4 to ×1.9.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 txBox="1"/>
          <p:nvPr>
            <p:ph idx="106" type="title" hasCustomPrompt="1"/>
          </p:nvPr>
        </p:nvSpPr>
        <p:spPr>
          <a:xfrm>
            <a:off x="457200" y="2363119"/>
            <a:ext cx="11277601" cy="558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810"/>
              </a:lnSpc>
              <a:buNone/>
            </a:pPr>
            <a:r>
              <a:rPr lang="en-US" sz="304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I: The model</a:t>
            </a:r>
            <a:endParaRPr lang="en-US" sz="3048" dirty="0"/>
          </a:p>
        </p:txBody>
      </p:sp>
      <p:sp>
        <p:nvSpPr>
          <p:cNvPr id="3" name="Text 6"/>
          <p:cNvSpPr txBox="1"/>
          <p:nvPr>
            <p:ph idx="107" type="body" hasCustomPrompt="1"/>
          </p:nvPr>
        </p:nvSpPr>
        <p:spPr>
          <a:xfrm>
            <a:off x="457200" y="3198007"/>
            <a:ext cx="11277601" cy="451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63"/>
              </a:lnSpc>
              <a:buNone/>
            </a:pPr>
            <a:r>
              <a:rPr lang="en-US" sz="25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a geometry change alters the radiated leak.</a:t>
            </a:r>
            <a:endParaRPr lang="en-US" sz="25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Johnson et al. cancelled one dominant harmonic with one knob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248332"/>
            <a:ext cx="54864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232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Johnson et al., APL 2001</a:t>
            </a:r>
            <a:endParaRPr lang="en-US" sz="2328" dirty="0"/>
          </a:p>
        </p:txBody>
      </p:sp>
      <p:sp>
        <p:nvSpPr>
          <p:cNvPr id="4" name="Text 7"/>
          <p:cNvSpPr txBox="1"/>
          <p:nvPr>
            <p:ph idx="109" type="body" hasCustomPrompt="1"/>
          </p:nvPr>
        </p:nvSpPr>
        <p:spPr>
          <a:xfrm>
            <a:off x="457200" y="1879257"/>
            <a:ext cx="5486401" cy="18378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73380" indent="-198120">
              <a:lnSpc>
                <a:spcPts val="2879"/>
              </a:lnSpc>
              <a:spcAft>
                <a:spcPts val="1205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knob swept until </a:t>
            </a:r>
            <a:r>
              <a:rPr lang="en-US" sz="2328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peaks.</a:t>
            </a:r>
            <a:endParaRPr lang="en-US" sz="2328" dirty="0"/>
          </a:p>
          <a:p>
            <a:pPr algn="l" marL="373380" indent="-198120">
              <a:lnSpc>
                <a:spcPts val="2879"/>
              </a:lnSpc>
              <a:spcAft>
                <a:spcPts val="1205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harmonic carries almost all the loss.</a:t>
            </a:r>
            <a:endParaRPr lang="en-US" sz="2328" dirty="0"/>
          </a:p>
          <a:p>
            <a:pPr algn="l" marL="373380" indent="-198120">
              <a:lnSpc>
                <a:spcPts val="2879"/>
              </a:lnSpc>
              <a:spcAft>
                <a:spcPts val="1205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Cancellation confirmed afterwards.</a:t>
            </a:r>
            <a:endParaRPr lang="en-US" sz="2328" dirty="0"/>
          </a:p>
        </p:txBody>
      </p:sp>
      <p:sp>
        <p:nvSpPr>
          <p:cNvPr id="5" name="Text 7"/>
          <p:cNvSpPr txBox="1"/>
          <p:nvPr>
            <p:ph idx="110" type="body" hasCustomPrompt="1"/>
          </p:nvPr>
        </p:nvSpPr>
        <p:spPr>
          <a:xfrm>
            <a:off x="6248401" y="1248332"/>
            <a:ext cx="54864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232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cavity</a:t>
            </a:r>
            <a:endParaRPr lang="en-US" sz="2328" dirty="0"/>
          </a:p>
        </p:txBody>
      </p:sp>
      <p:sp>
        <p:nvSpPr>
          <p:cNvPr id="6" name="Text 7"/>
          <p:cNvSpPr txBox="1"/>
          <p:nvPr>
            <p:ph idx="111" type="body" hasCustomPrompt="1"/>
          </p:nvPr>
        </p:nvSpPr>
        <p:spPr>
          <a:xfrm>
            <a:off x="6248401" y="1879257"/>
            <a:ext cx="5486401" cy="22021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73380" indent="-198120">
              <a:lnSpc>
                <a:spcPts val="2879"/>
              </a:lnSpc>
              <a:spcAft>
                <a:spcPts val="1205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loss is spread over several harmonics.</a:t>
            </a:r>
            <a:endParaRPr lang="en-US" sz="2328" dirty="0"/>
          </a:p>
          <a:p>
            <a:pPr algn="l" marL="373380" indent="-198120">
              <a:lnSpc>
                <a:spcPts val="2879"/>
              </a:lnSpc>
              <a:spcAft>
                <a:spcPts val="1205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predicts what each knob can remove.</a:t>
            </a:r>
            <a:endParaRPr lang="en-US" sz="2328" dirty="0"/>
          </a:p>
          <a:p>
            <a:pPr algn="l" marL="373380" indent="-198120">
              <a:lnSpc>
                <a:spcPts val="2879"/>
              </a:lnSpc>
              <a:spcAft>
                <a:spcPts val="1205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knobs are set together.</a:t>
            </a:r>
            <a:endParaRPr lang="en-US" sz="2328" dirty="0"/>
          </a:p>
        </p:txBody>
      </p:sp>
      <p:sp>
        <p:nvSpPr>
          <p:cNvPr id="7" name="Text 7"/>
          <p:cNvSpPr txBox="1"/>
          <p:nvPr>
            <p:ph idx="112" type="body" hasCustomPrompt="1"/>
          </p:nvPr>
        </p:nvSpPr>
        <p:spPr>
          <a:xfrm>
            <a:off x="457200" y="5646860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Johnson's 2D example has one field component, </a:t>
            </a:r>
            <a:r>
              <a:rPr lang="en-US" sz="190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r>
              <a:rPr lang="en-US" sz="1905" i="1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so each order has one coefficient. Our 3D field has two polarizations, so each </a:t>
            </a:r>
            <a:r>
              <a:rPr lang="en-US" sz="1905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(</a:t>
            </a:r>
            <a:r>
              <a:rPr lang="en-US" sz="190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r>
              <a:rPr lang="en-US" sz="1905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,</a:t>
            </a:r>
            <a:r>
              <a:rPr lang="en-US" sz="190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r>
              <a:rPr lang="en-US" sz="1905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)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has two.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leak is a sum of electric and magnetic harmonics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267326"/>
            <a:ext cx="112776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232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Far field.</a:t>
            </a: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Everything that differs from the oxide radiates:</a:t>
            </a:r>
            <a:endParaRPr lang="en-US" sz="2328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397"/>
            <a:ext cx="11277601" cy="820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ns0:rPr xmlns:ns0="http://schemas.openxmlformats.org/drawingml/2006/main" lang="en-US" sz="2328">
                      <ns0:latin typeface="Cambria Math"/>
                    </ns0:rPr>
                    <m:t>𝐀(</m:t>
                  </m:r>
                  <m:acc>
                    <m:accPr>
                      <m:chr m:val="̂"/>
                    </m:accPr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𝐫</m:t>
                      </m:r>
                    </m:e>
                  </m:acc>
                  <m:r>
                    <ns0:rPr xmlns:ns0="http://schemas.openxmlformats.org/drawingml/2006/main" lang="en-US" sz="2328">
                      <ns0:latin typeface="Cambria Math"/>
                    </ns0:rPr>
                    <m:t>)=(I−</m:t>
                  </m:r>
                  <m:acc>
                    <m:accPr>
                      <m:chr m:val="̂"/>
                    </m:accPr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𝐫</m:t>
                      </m:r>
                    </m:e>
                  </m:acc>
                  <m:acc>
                    <m:accPr>
                      <m:chr m:val="̂"/>
                    </m:accPr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𝐫</m:t>
                      </m:r>
                    </m:e>
                  </m:acc>
                  <m:r>
                    <ns0:rPr xmlns:ns0="http://schemas.openxmlformats.org/drawingml/2006/main" lang="en-US" sz="2328">
                      <ns0:latin typeface="Cambria Math"/>
                    </ns0:rPr>
                    <m:t>)∫Δε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𝐄</m:t>
                  </m:r>
                  <m:sSup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e</m:t>
                      </m:r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−ik</m:t>
                      </m:r>
                      <m:acc>
                        <m:accPr>
                          <m:chr m:val="̂"/>
                        </m:accPr>
                        <m:e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𝐫</m:t>
                          </m:r>
                        </m:e>
                      </m:acc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·</m:t>
                      </m:r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𝐫</m:t>
                      </m:r>
                    </m:sup>
                  </m:sSup>
                  <m:sSup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d</m:t>
                      </m:r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3</m:t>
                      </m:r>
                    </m:sup>
                  </m:sSup>
                  <m:r>
                    <ns0:rPr xmlns:ns0="http://schemas.openxmlformats.org/drawingml/2006/main" lang="en-US" sz="2328">
                      <ns0:latin typeface="Cambria Math"/>
                    </ns0:rPr>
                    <m:t>r</m:t>
                  </m:r>
                </m:oMath>
              </m:oMathPara>
            </a14:m>
            <a:endParaRPr lang="en-US" sz="2328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39193"/>
            <a:ext cx="112776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232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Harmonics.</a:t>
            </a: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same coefficients from the far field, or from the source:</a:t>
            </a:r>
            <a:endParaRPr lang="en-US" sz="2328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446264"/>
            <a:ext cx="11277601" cy="8201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α</m:t>
                      </m:r>
                    </m:e>
                    <m:sub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lm</m:t>
                      </m:r>
                    </m:sub>
                  </m:sSub>
                  <m:r>
                    <ns0:rPr xmlns:ns0="http://schemas.openxmlformats.org/drawingml/2006/main" lang="en-US" sz="2328">
                      <ns0:latin typeface="Cambria Math"/>
                    </ns0:rPr>
                    <m:t>=∮</m:t>
                  </m:r>
                  <m:sSubSup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𝐗</m:t>
                      </m:r>
                    </m:e>
                    <m:sub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lm</m:t>
                      </m:r>
                    </m:sub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*</m:t>
                      </m:r>
                    </m:sup>
                  </m:sSubSup>
                  <m:r>
                    <ns0:rPr xmlns:ns0="http://schemas.openxmlformats.org/drawingml/2006/main" lang="en-US" sz="2328">
                      <ns0:latin typeface="Cambria Math"/>
                    </ns0:rPr>
                    <m:t>·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𝐀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dΩ=4π(−i</m:t>
                  </m:r>
                  <m:sSup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)</m:t>
                      </m:r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l</m:t>
                      </m:r>
                    </m:sup>
                  </m:sSup>
                  <m:r>
                    <ns0:rPr xmlns:ns0="http://schemas.openxmlformats.org/drawingml/2006/main" lang="en-US" sz="2328">
                      <ns0:latin typeface="Cambria Math"/>
                    </ns0:rPr>
                    <m:t>∫Δε</m:t>
                  </m:r>
                  <m:sSub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j</m:t>
                      </m:r>
                    </m:e>
                    <m:sub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l</m:t>
                      </m:r>
                    </m:sub>
                  </m:sSub>
                  <m:r>
                    <ns0:rPr xmlns:ns0="http://schemas.openxmlformats.org/drawingml/2006/main" lang="en-US" sz="2328">
                      <ns0:latin typeface="Cambria Math"/>
                    </ns0:rPr>
                    <m:t>(kr)</m:t>
                  </m:r>
                  <m:sSubSup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𝐗</m:t>
                      </m:r>
                    </m:e>
                    <m:sub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lm</m:t>
                      </m:r>
                    </m:sub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*</m:t>
                      </m:r>
                    </m:sup>
                  </m:sSubSup>
                  <m:r>
                    <ns0:rPr xmlns:ns0="http://schemas.openxmlformats.org/drawingml/2006/main" lang="en-US" sz="2328">
                      <ns0:latin typeface="Cambria Math"/>
                    </ns0:rPr>
                    <m:t>·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𝐄</m:t>
                  </m:r>
                  <m:sSup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d</m:t>
                      </m:r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3</m:t>
                      </m:r>
                    </m:sup>
                  </m:sSup>
                  <m:r>
                    <ns0:rPr xmlns:ns0="http://schemas.openxmlformats.org/drawingml/2006/main" lang="en-US" sz="2328">
                      <ns0:latin typeface="Cambria Math"/>
                    </ns0:rPr>
                    <m:t>r</m:t>
                  </m:r>
                </m:oMath>
              </m:oMathPara>
            </a14:m>
            <a:endParaRPr lang="en-US" sz="2328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35269"/>
            <a:ext cx="11277601" cy="8717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sSub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β</m:t>
                      </m:r>
                    </m:e>
                    <m:sub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lm</m:t>
                      </m:r>
                    </m:sub>
                  </m:sSub>
                  <m:r>
                    <ns0:rPr xmlns:ns0="http://schemas.openxmlformats.org/drawingml/2006/main" lang="en-US" sz="2328">
                      <ns0:latin typeface="Cambria Math"/>
                    </ns0:rPr>
                    <m:t>=∮(</m:t>
                  </m:r>
                  <m:acc>
                    <m:accPr>
                      <m:chr m:val="̂"/>
                    </m:accPr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𝐫</m:t>
                      </m:r>
                    </m:e>
                  </m:acc>
                  <m:r>
                    <ns0:rPr xmlns:ns0="http://schemas.openxmlformats.org/drawingml/2006/main" lang="en-US" sz="2328">
                      <ns0:latin typeface="Cambria Math"/>
                    </ns0:rPr>
                    <m:t>×</m:t>
                  </m:r>
                  <m:sSub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𝐗</m:t>
                      </m:r>
                    </m:e>
                    <m:sub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lm</m:t>
                      </m:r>
                    </m:sub>
                  </m:sSub>
                  <m:sSup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)</m:t>
                      </m:r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*</m:t>
                      </m:r>
                    </m:sup>
                  </m:sSup>
                  <m:r>
                    <ns0:rPr xmlns:ns0="http://schemas.openxmlformats.org/drawingml/2006/main" lang="en-US" sz="2328">
                      <ns0:latin typeface="Cambria Math"/>
                    </ns0:rPr>
                    <m:t>·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𝐀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dΩ=</m:t>
                  </m:r>
                  <m:f>
                    <m:fPr>
                      <m:type m:val="bar"/>
                    </m:fPr>
                    <m:num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4πi(−i</m:t>
                      </m:r>
                      <m:sSup>
                        <m:e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)</m:t>
                          </m:r>
                        </m:e>
                        <m:sup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l</m:t>
                          </m:r>
                        </m:sup>
                      </m:sSup>
                    </m:num>
                    <m:den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k</m:t>
                      </m:r>
                    </m:den>
                  </m:f>
                  <m:r>
                    <ns0:rPr xmlns:ns0="http://schemas.openxmlformats.org/drawingml/2006/main" lang="en-US" sz="2328">
                      <ns0:latin typeface="Cambria Math"/>
                    </ns0:rPr>
                    <m:t>∫Δε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𝐄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·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∇×</m:t>
                  </m:r>
                  <m:d>
                    <m:dPr>
                      <m:begChr m:val="["/>
                      <m:sepChr m:val=""/>
                      <m:endChr m:val="]"/>
                    </m:dPr>
                    <m:e>
                      <m:sSub>
                        <m:e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j</m:t>
                          </m:r>
                        </m:e>
                        <m:sub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l</m:t>
                          </m:r>
                        </m:sub>
                      </m:sSub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(</m:t>
                      </m:r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k</m:t>
                      </m:r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r</m:t>
                      </m:r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)</m:t>
                      </m:r>
                      <m:sSubSup>
                        <m:e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𝐗</m:t>
                          </m:r>
                        </m:e>
                        <m:sub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lm</m:t>
                          </m:r>
                        </m:sub>
                        <m:sup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*</m:t>
                          </m:r>
                        </m:sup>
                      </m:sSubSup>
                    </m:e>
                  </m:d>
                  <m:sSup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d</m:t>
                      </m:r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3</m:t>
                      </m:r>
                    </m:sup>
                  </m:sSup>
                  <m:r>
                    <ns0:rPr xmlns:ns0="http://schemas.openxmlformats.org/drawingml/2006/main" lang="en-US" sz="2328">
                      <ns0:latin typeface="Cambria Math"/>
                    </ns0:rPr>
                    <m:t>r</m:t>
                  </m:r>
                </m:oMath>
              </m:oMathPara>
            </a14:m>
            <a:endParaRPr lang="en-US" sz="2328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414505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r>
              <a:rPr lang="en-US" sz="1905" i="1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lm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vector spherical harmonic, the angular pattern of order (</a:t>
            </a:r>
            <a:r>
              <a:rPr lang="en-US" sz="190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90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); </a:t>
            </a:r>
            <a:r>
              <a:rPr lang="en-US" sz="190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r>
              <a:rPr lang="en-US" sz="1905" i="1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spherical Bessel function. </a:t>
            </a:r>
            <a:r>
              <a:rPr lang="en-US" sz="1905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𝛼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magnetic, </a:t>
            </a:r>
            <a:r>
              <a:rPr lang="en-US" sz="1905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𝛽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electric.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feature adds its own coefficients to those of the leak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2623214"/>
            <a:ext cx="112776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232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Leak:</a:t>
            </a: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its coefficients </a:t>
            </a:r>
            <a:r>
              <a:rPr lang="en-US" sz="2328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</a:t>
            </a: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(</a:t>
            </a:r>
            <a:r>
              <a:rPr lang="en-US" sz="2328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𝛼</a:t>
            </a:r>
            <a:r>
              <a:rPr lang="en-US" sz="2328" i="1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lm</a:t>
            </a: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2328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𝛽</a:t>
            </a:r>
            <a:r>
              <a:rPr lang="en-US" sz="2328" i="1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lm</a:t>
            </a: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per unit stored energy.</a:t>
            </a:r>
            <a:endParaRPr lang="en-US" sz="2328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3101739"/>
            <a:ext cx="112776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232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Feature:</a:t>
            </a: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strength </a:t>
            </a:r>
            <a:r>
              <a:rPr lang="en-US" sz="2328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(for example a tooth width); adds </a:t>
            </a:r>
            <a:r>
              <a:rPr lang="en-US" sz="2328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per unit </a:t>
            </a:r>
            <a:r>
              <a:rPr lang="en-US" sz="2328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measured.</a:t>
            </a:r>
            <a:endParaRPr lang="en-US" sz="2328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3708810"/>
            <a:ext cx="11277601" cy="516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ns0:rPr xmlns:ns0="http://schemas.openxmlformats.org/drawingml/2006/main" lang="en-US" sz="2328">
                      <ns0:latin typeface="Cambria Math"/>
                    </ns0:rPr>
                    <m:t>c(q)=c+q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b,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P(q)∝</m:t>
                  </m:r>
                  <m:sSup>
                    <m:e>
                      <m:d>
                        <m:dPr>
                          <m:begChr m:val="|"/>
                          <m:sepChr m:val="+"/>
                          <m:endChr m:val="|"/>
                        </m:dPr>
                        <m:e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c</m:t>
                          </m:r>
                        </m:e>
                        <m:e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q</m:t>
                          </m:r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b</m:t>
                          </m:r>
                        </m:e>
                      </m:d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2</m:t>
                      </m:r>
                    </m:sup>
                  </m:sSup>
                </m:oMath>
              </m:oMathPara>
            </a14:m>
            <a:endParaRPr lang="en-US" sz="2328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422842"/>
            <a:ext cx="112776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while the feature is small: runs at </a:t>
            </a:r>
            <a:r>
              <a:rPr lang="en-US" sz="1905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 ± </a:t>
            </a:r>
            <a:r>
              <a:rPr lang="en-US" sz="190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give equal and opposite changes.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knob: the best strength follows from </a:t>
            </a:r>
            <a:r>
              <a:rPr lang="en-US" sz="3048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dP</a:t>
            </a:r>
            <a:r>
              <a:rPr lang="en-US" sz="3048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/</a:t>
            </a:r>
            <a:r>
              <a:rPr lang="en-US" sz="3048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dq</a:t>
            </a:r>
            <a:r>
              <a:rPr lang="en-US" sz="304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0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534922"/>
            <a:ext cx="112776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232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Expand.</a:t>
            </a: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write out the square:</a:t>
            </a:r>
            <a:endParaRPr lang="en-US" sz="2328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141993"/>
            <a:ext cx="11277601" cy="51691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ns0:rPr xmlns:ns0="http://schemas.openxmlformats.org/drawingml/2006/main" lang="en-US" sz="2328">
                      <ns0:latin typeface="Cambria Math"/>
                    </ns0:rPr>
                    <m:t>P(q)∝</m:t>
                  </m:r>
                  <m:sSup>
                    <m:e>
                      <m:d>
                        <m:dPr>
                          <m:begChr m:val="|"/>
                          <m:sepChr m:val=""/>
                          <m:endChr m:val="|"/>
                        </m:dPr>
                        <m:e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c</m:t>
                          </m:r>
                        </m:e>
                      </m:d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2</m:t>
                      </m:r>
                    </m:sup>
                  </m:sSup>
                  <m:r>
                    <ns0:rPr xmlns:ns0="http://schemas.openxmlformats.org/drawingml/2006/main" lang="en-US" sz="2328">
                      <ns0:latin typeface="Cambria Math"/>
                    </ns0:rPr>
                    <m:t>+2q</m:t>
                  </m:r>
                  <m:r>
                    <m:rPr>
                      <m:sty m:val="p"/>
                    </m:rPr>
                    <ns0:rPr xmlns:ns0="http://schemas.openxmlformats.org/drawingml/2006/main" lang="en-US" sz="2328">
                      <ns0:latin typeface="Cambria Math"/>
                    </ns0:rPr>
                    <m:t>Re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⟨b,c⟩+</m:t>
                  </m:r>
                  <m:sSup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q</m:t>
                      </m:r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2</m:t>
                      </m:r>
                    </m:sup>
                  </m:sSup>
                  <m:sSup>
                    <m:e>
                      <m:d>
                        <m:dPr>
                          <m:begChr m:val="|"/>
                          <m:sepChr m:val=""/>
                          <m:endChr m:val="|"/>
                        </m:dPr>
                        <m:e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b</m:t>
                          </m:r>
                        </m:e>
                      </m:d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2</m:t>
                      </m:r>
                    </m:sup>
                  </m:sSup>
                </m:oMath>
              </m:oMathPara>
            </a14:m>
            <a:endParaRPr lang="en-US" sz="2328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27772"/>
            <a:ext cx="11277601" cy="897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r>
                    <m:rPr>
                      <m:sty m:val="p"/>
                    </m:rPr>
                    <ns0:rPr xmlns:ns0="http://schemas.openxmlformats.org/drawingml/2006/main" lang="en-US" sz="2328">
                      <ns0:latin typeface="Cambria Math"/>
                    </ns0:rPr>
                    <m:t>2. Lowest loss where the slope is zero: </m:t>
                  </m:r>
                  <m:f>
                    <m:fPr>
                      <m:type m:val="bar"/>
                    </m:fPr>
                    <m:num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dP</m:t>
                      </m:r>
                    </m:num>
                    <m:den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dq</m:t>
                      </m:r>
                    </m:den>
                  </m:f>
                  <m:r>
                    <ns0:rPr xmlns:ns0="http://schemas.openxmlformats.org/drawingml/2006/main" lang="en-US" sz="2328">
                      <ns0:latin typeface="Cambria Math"/>
                    </ns0:rPr>
                    <m:t>=0</m:t>
                  </m:r>
                  <m:r>
                    <ns0:rPr xmlns:ns0="http://schemas.openxmlformats.org/drawingml/2006/main" lang="en-US" sz="2328">
                      <ns0:latin typeface="Cambria Math"/>
                    </ns0:rPr>
                    <m:t>⇒</m:t>
                  </m:r>
                  <m:sSub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q</m:t>
                      </m:r>
                    </m:e>
                    <m:sub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*</m:t>
                      </m:r>
                    </m:sub>
                  </m:sSub>
                  <m:r>
                    <ns0:rPr xmlns:ns0="http://schemas.openxmlformats.org/drawingml/2006/main" lang="en-US" sz="2328">
                      <ns0:latin typeface="Cambria Math"/>
                    </ns0:rPr>
                    <m:t>=−</m:t>
                  </m:r>
                  <m:f>
                    <m:fPr>
                      <m:type m:val="bar"/>
                    </m:fPr>
                    <m:num>
                      <m:r>
                        <m:rPr>
                          <m:sty m:val="p"/>
                        </m:rPr>
                        <ns0:rPr xmlns:ns0="http://schemas.openxmlformats.org/drawingml/2006/main" lang="en-US" sz="2328">
                          <ns0:latin typeface="Cambria Math"/>
                        </ns0:rPr>
                        <m:t>Re</m:t>
                      </m:r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⟨b,c⟩</m:t>
                      </m:r>
                    </m:num>
                    <m:den>
                      <m:sSup>
                        <m:e>
                          <m:d>
                            <m:dPr>
                              <m:begChr m:val="|"/>
                              <m:sepChr m:val=""/>
                              <m:endChr m:val="|"/>
                            </m:dPr>
                            <m:e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b</m:t>
                              </m:r>
                            </m:e>
                          </m:d>
                        </m:e>
                        <m:sup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2</m:t>
                          </m:r>
                        </m:sup>
                      </m:sSup>
                    </m:den>
                  </m:f>
                </m:oMath>
              </m:oMathPara>
            </a14:m>
            <a:endParaRPr lang="en-US" sz="2328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3869988"/>
            <a:ext cx="112776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232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Insert.</a:t>
            </a: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put </a:t>
            </a:r>
            <a:r>
              <a:rPr lang="en-US" sz="2328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r>
              <a:rPr lang="en-US" sz="2328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back:</a:t>
            </a:r>
            <a:endParaRPr lang="en-US" sz="2328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4477059"/>
            <a:ext cx="11277601" cy="926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14:m xmlns:a14="http://schemas.microsoft.com/office/drawing/2010/main">
              <m:oMathPara xmlns:m="http://schemas.openxmlformats.org/officeDocument/2006/math">
                <m:oMathParaPr>
                  <m:jc m:val="center"/>
                </m:oMathParaPr>
                <m:oMath xmlns:m="http://schemas.openxmlformats.org/officeDocument/2006/math">
                  <m:f>
                    <m:fPr>
                      <m:type m:val="bar"/>
                    </m:fPr>
                    <m:num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P(</m:t>
                      </m:r>
                      <m:sSub>
                        <m:e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q</m:t>
                          </m:r>
                        </m:e>
                        <m:sub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*</m:t>
                          </m:r>
                        </m:sub>
                      </m:sSub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)</m:t>
                      </m:r>
                    </m:num>
                    <m:den>
                      <m:sSub>
                        <m:e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P</m:t>
                          </m:r>
                        </m:e>
                        <m:sub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c</m:t>
                          </m:r>
                        </m:sub>
                      </m:sSub>
                    </m:den>
                  </m:f>
                  <m:r>
                    <ns0:rPr xmlns:ns0="http://schemas.openxmlformats.org/drawingml/2006/main" lang="en-US" sz="2328">
                      <ns0:latin typeface="Cambria Math"/>
                    </ns0:rPr>
                    <m:t>=1−</m:t>
                  </m:r>
                  <m:sSup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η</m:t>
                      </m:r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2</m:t>
                      </m:r>
                    </m:sup>
                  </m:sSup>
                  <m:r>
                    <ns0:rPr xmlns:ns0="http://schemas.openxmlformats.org/drawingml/2006/main" lang="en-US" sz="2328">
                      <ns0:latin typeface="Cambria Math"/>
                    </ns0:rPr>
                    <m:t>,</m:t>
                  </m:r>
                  <m:sSup>
                    <m:e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η</m:t>
                      </m:r>
                    </m:e>
                    <m:sup>
                      <m:r>
                        <ns0:rPr xmlns:ns0="http://schemas.openxmlformats.org/drawingml/2006/main" lang="en-US" sz="2328">
                          <ns0:latin typeface="Cambria Math"/>
                        </ns0:rPr>
                        <m:t>2</m:t>
                      </m:r>
                    </m:sup>
                  </m:sSup>
                  <m:r>
                    <ns0:rPr xmlns:ns0="http://schemas.openxmlformats.org/drawingml/2006/main" lang="en-US" sz="2328">
                      <ns0:latin typeface="Cambria Math"/>
                    </ns0:rPr>
                    <m:t>=</m:t>
                  </m:r>
                  <m:f>
                    <m:fPr>
                      <m:type m:val="bar"/>
                    </m:fPr>
                    <m:num>
                      <m:sSup>
                        <m:e>
                          <m:d>
                            <m:dPr>
                              <m:sepChr m:val=""/>
                            </m:dPr>
                            <m:e>
                              <m:r>
                                <m:rPr>
                                  <m:sty m:val="p"/>
                                </m:rP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Re</m:t>
                              </m:r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⟨</m:t>
                              </m:r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b</m:t>
                              </m:r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,</m:t>
                              </m:r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c</m:t>
                              </m:r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⟩</m:t>
                              </m:r>
                            </m:e>
                          </m:d>
                        </m:e>
                        <m:sup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2</m:t>
                          </m:r>
                        </m:sup>
                      </m:sSup>
                    </m:num>
                    <m:den>
                      <m:sSup>
                        <m:e>
                          <m:d>
                            <m:dPr>
                              <m:begChr m:val="|"/>
                              <m:sepChr m:val=""/>
                              <m:endChr m:val="|"/>
                            </m:dPr>
                            <m:e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b</m:t>
                              </m:r>
                            </m:e>
                          </m:d>
                        </m:e>
                        <m:sup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2</m:t>
                          </m:r>
                        </m:sup>
                      </m:sSup>
                      <m:sSup>
                        <m:e>
                          <m:d>
                            <m:dPr>
                              <m:begChr m:val="|"/>
                              <m:sepChr m:val=""/>
                              <m:endChr m:val="|"/>
                            </m:dPr>
                            <m:e>
                              <m:r>
                                <ns0:rPr xmlns:ns0="http://schemas.openxmlformats.org/drawingml/2006/main" lang="en-US" sz="2328">
                                  <ns0:latin typeface="Cambria Math"/>
                                </ns0:rPr>
                                <m:t>c</m:t>
                              </m:r>
                            </m:e>
                          </m:d>
                        </m:e>
                        <m:sup>
                          <m:r>
                            <ns0:rPr xmlns:ns0="http://schemas.openxmlformats.org/drawingml/2006/main" lang="en-US" sz="2328">
                              <ns0:latin typeface="Cambria Math"/>
                            </ns0:rPr>
                            <m:t>2</m:t>
                          </m:r>
                        </m:sup>
                      </m:sSup>
                    </m:den>
                  </m:f>
                </m:oMath>
              </m:oMathPara>
            </a14:m>
            <a:endParaRPr lang="en-US" sz="2328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5511134"/>
            <a:ext cx="112776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𝜂</a:t>
            </a:r>
            <a:r>
              <a:rPr lang="en-US" sz="1905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 fraction of the leak this knob can remove. Set too strong, at </a:t>
            </a:r>
            <a:r>
              <a:rPr lang="en-US" sz="1905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r>
              <a:rPr lang="en-US" sz="190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r>
              <a:rPr lang="en-US" sz="1905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*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loss is back at its original value.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Several knobs: one linear problem</a:t>
            </a:r>
            <a:endParaRPr lang="en-US" sz="3048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48740"/>
          <a:ext cx="11277601" cy="2822743"/>
        </p:xfrm>
        <a:graphic>
          <a:graphicData uri="http://schemas.openxmlformats.org/drawingml/2006/table">
            <a:tbl>
              <a:tblPr/>
              <a:tblGrid>
                <a:gridCol w="4511040"/>
                <a:gridCol w="6766561"/>
              </a:tblGrid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unknowns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i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= (</a:t>
                      </a:r>
                      <a:r>
                        <a:rPr lang="en-US" sz="2328" i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</a:t>
                      </a:r>
                      <a:r>
                        <a:rPr lang="en-US" sz="2328" baseline="-25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1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…, </a:t>
                      </a:r>
                      <a:r>
                        <a:rPr lang="en-US" sz="2328" i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</a:t>
                      </a:r>
                      <a:r>
                        <a:rPr lang="en-US" sz="2328" i="1" baseline="-25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n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)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zero the targets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i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c</a:t>
                      </a:r>
                      <a:r>
                        <a:rPr lang="en-US" sz="2328" i="1" baseline="-25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 + </a:t>
                      </a:r>
                      <a:r>
                        <a:rPr lang="en-US" sz="2328" i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B</a:t>
                      </a:r>
                      <a:r>
                        <a:rPr lang="en-US" sz="2328" i="1" baseline="-25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S</a:t>
                      </a:r>
                      <a:r>
                        <a:rPr lang="en-US" sz="2328" b="1" i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= 0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 the width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i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w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 · </a:t>
                      </a:r>
                      <a:r>
                        <a:rPr lang="en-US" sz="2328" b="1" i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= 0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 the resonance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i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v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 · </a:t>
                      </a:r>
                      <a:r>
                        <a:rPr lang="en-US" sz="2328" b="1" i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= 0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solution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i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</a:t>
                      </a:r>
                      <a:r>
                        <a:rPr lang="en-US" sz="2328" b="1" i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= 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 − </a:t>
                      </a:r>
                      <a:r>
                        <a:rPr lang="en-US" sz="2328" b="1" i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, so </a:t>
                      </a:r>
                      <a:r>
                        <a:rPr lang="en-US" sz="2328" b="1" i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 = 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 − </a:t>
                      </a:r>
                      <a:r>
                        <a:rPr lang="en-US" sz="2328" i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M</a:t>
                      </a:r>
                      <a:r>
                        <a:rPr lang="en-US" sz="2328" baseline="30000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 + </a:t>
                      </a:r>
                      <a:r>
                        <a:rPr lang="en-US" sz="2328" b="1" i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r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323462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target harmonics; </a:t>
            </a:r>
            <a:r>
              <a:rPr lang="en-US" sz="190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r>
              <a:rPr lang="en-US" sz="1905" i="1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905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sz="1905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their response, two runs per knob. Exact with </a:t>
            </a:r>
            <a:r>
              <a:rPr lang="en-US" sz="1905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r>
              <a:rPr lang="en-US" sz="190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</a:t>
            </a:r>
            <a:r>
              <a:rPr lang="en-US" sz="1905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 + </a:t>
            </a:r>
            <a:r>
              <a:rPr lang="en-US" sz="1905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knobs, least squares with fewer.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6"/>
          <p:cNvSpPr txBox="1"/>
          <p:nvPr>
            <p:ph idx="106" type="title" hasCustomPrompt="1"/>
          </p:nvPr>
        </p:nvSpPr>
        <p:spPr>
          <a:xfrm>
            <a:off x="457200" y="2363119"/>
            <a:ext cx="11277601" cy="558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810"/>
              </a:lnSpc>
              <a:buNone/>
            </a:pPr>
            <a:r>
              <a:rPr lang="en-US" sz="304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II: Can it be done?</a:t>
            </a:r>
            <a:endParaRPr lang="en-US" sz="3048" dirty="0"/>
          </a:p>
        </p:txBody>
      </p:sp>
      <p:sp>
        <p:nvSpPr>
          <p:cNvPr id="3" name="Text 6"/>
          <p:cNvSpPr txBox="1"/>
          <p:nvPr>
            <p:ph idx="107" type="body" hasCustomPrompt="1"/>
          </p:nvPr>
        </p:nvSpPr>
        <p:spPr>
          <a:xfrm>
            <a:off x="457200" y="3198007"/>
            <a:ext cx="11277601" cy="4511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963"/>
              </a:lnSpc>
              <a:buNone/>
            </a:pPr>
            <a:r>
              <a:rPr lang="en-US" sz="254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Measured harmonic content, and what ideal knobs would gain.</a:t>
            </a:r>
            <a:endParaRPr lang="en-US" sz="25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device leaks in a different angular pattern</a:t>
            </a:r>
            <a:endParaRPr lang="en-US" sz="3048" dirty="0"/>
          </a:p>
        </p:txBody>
      </p:sp>
      <p:pic>
        <p:nvPicPr>
          <p:cNvPr id="3" name="Image 0" descr="C:\Users\evyat\Lumerical\phase_shift_grating_FTDT_codes\docs\radiation_cancellation_deck_2026-10-10\cancel_farfield_maps.png">    </p:cNvPr>
          <p:cNvPicPr>
            <a:picLocks noChangeAspect="1"/>
          </p:cNvPicPr>
          <p:nvPr>
            <p:ph idx="108" type="pic" hasCustomPrompt="1"/>
          </p:nvPr>
        </p:nvPicPr>
        <p:blipFill>
          <a:blip r:embed="rId1"/>
          <a:stretch>
            <a:fillRect/>
          </a:stretch>
        </p:blipFill>
        <p:spPr>
          <a:xfrm>
            <a:off x="2854462" y="1348740"/>
            <a:ext cx="6483076" cy="4187221"/>
          </a:xfrm>
          <a:prstGeom prst="rect">
            <a:avLst/>
          </a:prstGeom>
        </p:spPr>
      </p:pic>
      <p:sp>
        <p:nvSpPr>
          <p:cNvPr id="4" name="Text 7"/>
          <p:cNvSpPr txBox="1"/>
          <p:nvPr>
            <p:ph idx="109" type="body" hasCustomPrompt="1"/>
          </p:nvPr>
        </p:nvSpPr>
        <p:spPr>
          <a:xfrm>
            <a:off x="457200" y="5687940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Radiated power per solid angle at resonance, dB relative to the peak; </a:t>
            </a:r>
            <a:r>
              <a:rPr lang="en-US" sz="190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</a:t>
            </a:r>
            <a:r>
              <a:rPr lang="en-US" sz="1905" i="1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x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runs along the waveguide. Computed from </a:t>
            </a:r>
            <a:r>
              <a:rPr lang="en-US" sz="1905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</a:t>
            </a:r>
            <a:r>
              <a:rPr lang="en-US" sz="1905" b="1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on a closed surface around the cavity, projected to the far field.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TE: the leak sits in low order harmonics</a:t>
            </a:r>
            <a:endParaRPr lang="en-US" sz="3048" dirty="0"/>
          </a:p>
        </p:txBody>
      </p:sp>
      <p:pic>
        <p:nvPicPr>
          <p:cNvPr id="3" name="Image 0" descr="C:\Users\evyat\Lumerical\phase_shift_grating_FTDT_codes\docs\radiation_cancellation_deck_2026-10-10\cancel_channels_te_plain.png">    </p:cNvPr>
          <p:cNvPicPr>
            <a:picLocks noChangeAspect="1"/>
          </p:cNvPicPr>
          <p:nvPr>
            <p:ph idx="108" type="pic" hasCustomPrompt="1"/>
          </p:nvPr>
        </p:nvPicPr>
        <p:blipFill>
          <a:blip r:embed="rId1"/>
          <a:stretch>
            <a:fillRect/>
          </a:stretch>
        </p:blipFill>
        <p:spPr>
          <a:xfrm>
            <a:off x="1577062" y="1348740"/>
            <a:ext cx="9037878" cy="4056370"/>
          </a:xfrm>
          <a:prstGeom prst="rect">
            <a:avLst/>
          </a:prstGeom>
        </p:spPr>
      </p:pic>
      <p:sp>
        <p:nvSpPr>
          <p:cNvPr id="4" name="Text 7"/>
          <p:cNvSpPr txBox="1"/>
          <p:nvPr>
            <p:ph idx="109" type="body" hasCustomPrompt="1"/>
          </p:nvPr>
        </p:nvSpPr>
        <p:spPr>
          <a:xfrm>
            <a:off x="457200" y="5557090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the radiated power per harmonic; +</a:t>
            </a:r>
            <a:r>
              <a:rPr lang="en-US" sz="190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and -</a:t>
            </a:r>
            <a:r>
              <a:rPr lang="en-US" sz="190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 equal (mirror symmetry in </a:t>
            </a:r>
            <a:r>
              <a:rPr lang="en-US" sz="190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y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), so each cell is their sum. </a:t>
            </a:r>
            <a:r>
              <a:rPr lang="en-US" sz="190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98, </a:t>
            </a:r>
            <a:r>
              <a:rPr lang="en-US" sz="190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0.912, mode 19.1 </a:t>
            </a:r>
            <a:r>
              <a:rPr lang="en-US" sz="1905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𝜇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Overshoot apodization: the leak is spread over many orders</a:t>
            </a:r>
            <a:endParaRPr lang="en-US" sz="3048" dirty="0"/>
          </a:p>
        </p:txBody>
      </p:sp>
      <p:pic>
        <p:nvPicPr>
          <p:cNvPr id="3" name="Image 0" descr="C:\Users\evyat\Lumerical\phase_shift_grating_FTDT_codes\docs\radiation_cancellation_deck_2026-10-10\cancel_channels_te_overshoot.png">    </p:cNvPr>
          <p:cNvPicPr>
            <a:picLocks noChangeAspect="1"/>
          </p:cNvPicPr>
          <p:nvPr>
            <p:ph idx="108" type="pic" hasCustomPrompt="1"/>
          </p:nvPr>
        </p:nvPicPr>
        <p:blipFill>
          <a:blip r:embed="rId1"/>
          <a:stretch>
            <a:fillRect/>
          </a:stretch>
        </p:blipFill>
        <p:spPr>
          <a:xfrm>
            <a:off x="1526654" y="1348740"/>
            <a:ext cx="9138694" cy="4056370"/>
          </a:xfrm>
          <a:prstGeom prst="rect">
            <a:avLst/>
          </a:prstGeom>
        </p:spPr>
      </p:pic>
      <p:sp>
        <p:nvSpPr>
          <p:cNvPr id="4" name="Text 7"/>
          <p:cNvSpPr txBox="1"/>
          <p:nvPr>
            <p:ph idx="109" type="body" hasCustomPrompt="1"/>
          </p:nvPr>
        </p:nvSpPr>
        <p:spPr>
          <a:xfrm>
            <a:off x="457200" y="5557090"/>
            <a:ext cx="11277601" cy="4404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98, </a:t>
            </a:r>
            <a:r>
              <a:rPr lang="en-US" sz="190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0.973, mode 19.6 </a:t>
            </a:r>
            <a:r>
              <a:rPr lang="en-US" sz="1905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𝜇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 Dipoles hold 6 %; half of the power is above </a:t>
            </a:r>
            <a:r>
              <a:rPr lang="en-US" sz="190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12.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TM at the same mode width</a:t>
            </a:r>
            <a:endParaRPr lang="en-US" sz="3048" dirty="0"/>
          </a:p>
        </p:txBody>
      </p:sp>
      <p:pic>
        <p:nvPicPr>
          <p:cNvPr id="3" name="Image 0" descr="C:\Users\evyat\Lumerical\phase_shift_grating_FTDT_codes\docs\radiation_cancellation_deck_2026-10-10\cancel_channels_tm_plain.png">    </p:cNvPr>
          <p:cNvPicPr>
            <a:picLocks noChangeAspect="1"/>
          </p:cNvPicPr>
          <p:nvPr>
            <p:ph idx="108" type="pic" hasCustomPrompt="1"/>
          </p:nvPr>
        </p:nvPicPr>
        <p:blipFill>
          <a:blip r:embed="rId1"/>
          <a:stretch>
            <a:fillRect/>
          </a:stretch>
        </p:blipFill>
        <p:spPr>
          <a:xfrm>
            <a:off x="1526654" y="1348740"/>
            <a:ext cx="9138694" cy="4056370"/>
          </a:xfrm>
          <a:prstGeom prst="rect">
            <a:avLst/>
          </a:prstGeom>
        </p:spPr>
      </p:pic>
      <p:sp>
        <p:nvSpPr>
          <p:cNvPr id="4" name="Text 7"/>
          <p:cNvSpPr txBox="1"/>
          <p:nvPr>
            <p:ph idx="109" type="body" hasCustomPrompt="1"/>
          </p:nvPr>
        </p:nvSpPr>
        <p:spPr>
          <a:xfrm>
            <a:off x="457200" y="5557090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Corrugation 325 nm, </a:t>
            </a:r>
            <a:r>
              <a:rPr lang="en-US" sz="190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98, </a:t>
            </a:r>
            <a:r>
              <a:rPr lang="en-US" sz="190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0.915, mode 19.2 </a:t>
            </a:r>
            <a:r>
              <a:rPr lang="en-US" sz="1905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𝜇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m. Dipoles hold 11 %; 74 % is in </a:t>
            </a:r>
            <a:r>
              <a:rPr lang="en-US" sz="190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</a:t>
            </a:r>
            <a:r>
              <a:rPr lang="en-US" sz="1905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 ≤ </a:t>
            </a:r>
            <a:r>
              <a:rPr lang="en-US" sz="1905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with a tail along the waveguide axis.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TE: cancelling ten harmonics could raise </a:t>
            </a:r>
            <a:r>
              <a:rPr lang="en-US" sz="3048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r>
              <a:rPr lang="en-US" sz="304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up to ×9</a:t>
            </a:r>
            <a:endParaRPr lang="en-US" sz="3048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48740"/>
          <a:ext cx="11277601" cy="3387291"/>
        </p:xfrm>
        <a:graphic>
          <a:graphicData uri="http://schemas.openxmlformats.org/drawingml/2006/table">
            <a:tbl>
              <a:tblPr/>
              <a:tblGrid>
                <a:gridCol w="3496056"/>
                <a:gridCol w="1240536"/>
                <a:gridCol w="2481072"/>
                <a:gridCol w="4059936"/>
              </a:tblGrid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harmonics cancelled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knobs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radiation loss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estimated </a:t>
                      </a:r>
                      <a:r>
                        <a:rPr lang="en-US" sz="2328" i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</a:t>
                      </a: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at -3 dB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7.3 %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12 900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largest 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𝛽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5.9 %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16 000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largest 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𝛽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and 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𝛼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4.9 %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19 000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largest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2.3 %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41 000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largest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0.8 %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113 000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888011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for ideal knobs (</a:t>
            </a:r>
            <a:r>
              <a:rPr lang="en-US" sz="1905" dirty="0">
                <a:solidFill>
                  <a:srgbClr val="000000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𝜂</a:t>
            </a:r>
            <a:r>
              <a:rPr lang="en-US" sz="1905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equal to the cancelled share </a:t>
            </a:r>
            <a:r>
              <a:rPr lang="en-US" sz="190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): </a:t>
            </a:r>
            <a:r>
              <a:rPr lang="en-US" sz="190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-3 dB = 12 900/(1 - </a:t>
            </a:r>
            <a:r>
              <a:rPr lang="en-US" sz="190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). Example, 5 largest: 12 900/0.31 = 41 000.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Overshoot: cancellation reaches only part of its loss</a:t>
            </a:r>
            <a:endParaRPr lang="en-US" sz="3048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48740"/>
          <a:ext cx="11277601" cy="3387291"/>
        </p:xfrm>
        <a:graphic>
          <a:graphicData uri="http://schemas.openxmlformats.org/drawingml/2006/table">
            <a:tbl>
              <a:tblPr/>
              <a:tblGrid>
                <a:gridCol w="3496056"/>
                <a:gridCol w="1240536"/>
                <a:gridCol w="2481072"/>
                <a:gridCol w="4059936"/>
              </a:tblGrid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harmonics cancelled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knobs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radiation loss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estimated </a:t>
                      </a:r>
                      <a:r>
                        <a:rPr lang="en-US" sz="2328" i="1" dirty="0">
                          <a:solidFill>
                            <a:srgbClr val="000000"/>
                          </a:solidFill>
                          <a:latin typeface="Times New Roman" pitchFamily="34" charset="0"/>
                          <a:ea typeface="Times New Roman" pitchFamily="34" charset="-122"/>
                          <a:cs typeface="Times New Roman" pitchFamily="34" charset="-120"/>
                        </a:rPr>
                        <a:t>Q</a:t>
                      </a:r>
                      <a:r>
                        <a:rPr lang="en-US" sz="2328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at -3 dB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none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0.69 %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198 000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largest </a:t>
                      </a:r>
                      <a:r>
                        <a:rPr lang="en-US" sz="2328" dirty="0">
                          <a:solidFill>
                            <a:srgbClr val="000000"/>
                          </a:solidFill>
                          <a:latin typeface="Cambria Math" pitchFamily="34" charset="0"/>
                          <a:ea typeface="Cambria Math" pitchFamily="34" charset="-122"/>
                          <a:cs typeface="Cambria Math" pitchFamily="34" charset="-120"/>
                        </a:rPr>
                        <a:t>𝛼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0.65 %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201 000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 largest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0.56 %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210 000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 largest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0.48 %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218 000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4445" cap="flat" cmpd="sng" algn="ctr">
                      <a:solidFill>
                        <a:srgbClr val="B4B4B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4549">
                <a:tc>
                  <a:txBody>
                    <a:bodyPr/>
                    <a:lstStyle/>
                    <a:p>
                      <a:pPr algn="l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 largest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0.37 %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lnSpc>
                          <a:spcPts val="2879"/>
                        </a:lnSpc>
                        <a:buNone/>
                      </a:pPr>
                      <a:r>
                        <a:rPr lang="en-US" sz="2328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230 000</a:t>
                      </a:r>
                      <a:endParaRPr lang="en-US" sz="2328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67640" marR="1676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079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888011"/>
            <a:ext cx="11277601" cy="804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79"/>
              </a:lnSpc>
              <a:buNone/>
            </a:pP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for ideal knobs. Radiation (</a:t>
            </a:r>
            <a:r>
              <a:rPr lang="en-US" sz="190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r>
              <a:rPr lang="en-US" sz="1905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rad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2.2 × 10</a:t>
            </a:r>
            <a:r>
              <a:rPr lang="en-US" sz="1905" baseline="30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 is a third of the internal loss, so 1/</a:t>
            </a:r>
            <a:r>
              <a:rPr lang="en-US" sz="190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r>
              <a:rPr lang="en-US" sz="1905" i="1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= (1 - </a:t>
            </a:r>
            <a:r>
              <a:rPr lang="en-US" sz="190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)/</a:t>
            </a:r>
            <a:r>
              <a:rPr lang="en-US" sz="190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r>
              <a:rPr lang="en-US" sz="1905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rad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+ 1/</a:t>
            </a:r>
            <a:r>
              <a:rPr lang="en-US" sz="1905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r>
              <a:rPr lang="en-US" sz="1905" baseline="-25000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other</a:t>
            </a:r>
            <a:r>
              <a:rPr lang="en-US" sz="1905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90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48740"/>
            <a:ext cx="11277601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Model:</a:t>
            </a: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harmonics, the linear effect of a feature, one linear solve for all knobs.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Plain TE:</a:t>
            </a: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compact leak; about ten harmonics would have to cancel for a large gain.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Overshoot:</a:t>
            </a: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 spread leak, and radiation is only part of its loss: tens of percent.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question:</a:t>
            </a: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does radiation dominate the overshoot's loss? That sets how far cancellation can go.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7"/>
          <p:cNvSpPr txBox="1"/>
          <p:nvPr>
            <p:ph idx="107" type="title" hasCustomPrompt="1"/>
          </p:nvPr>
        </p:nvSpPr>
        <p:spPr>
          <a:xfrm>
            <a:off x="457200" y="0"/>
            <a:ext cx="11277601" cy="7391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ts val="3810"/>
              </a:lnSpc>
              <a:buNone/>
            </a:pPr>
            <a:r>
              <a:rPr lang="en-US" sz="304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3048" dirty="0"/>
          </a:p>
        </p:txBody>
      </p:sp>
      <p:sp>
        <p:nvSpPr>
          <p:cNvPr id="3" name="Text 7"/>
          <p:cNvSpPr txBox="1"/>
          <p:nvPr>
            <p:ph idx="108" type="body" hasCustomPrompt="1"/>
          </p:nvPr>
        </p:nvSpPr>
        <p:spPr>
          <a:xfrm>
            <a:off x="457200" y="1348740"/>
            <a:ext cx="11277601" cy="4800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</a:t>
            </a: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measure the overshoot's own loss budget and </a:t>
            </a:r>
            <a:r>
              <a:rPr lang="en-US" sz="2328" i="1" dirty="0">
                <a:solidFill>
                  <a:srgbClr val="000000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</a:t>
            </a: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at -3 dB at a fixed simulation time; continue only if radiation dominates.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Choose the perturbation:</a:t>
            </a: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geometry change near the junction that reaches the largest harmonics, with its response measured.</a:t>
            </a:r>
            <a:endParaRPr lang="en-US" sz="2328" dirty="0"/>
          </a:p>
          <a:p>
            <a:pPr algn="l" marL="473964" indent="-228600">
              <a:lnSpc>
                <a:spcPts val="2879"/>
              </a:lnSpc>
              <a:spcAft>
                <a:spcPts val="2409"/>
              </a:spcAft>
              <a:buClr>
                <a:srgbClr val="3333B3"/>
              </a:buClr>
              <a:buSzPct val="80000"/>
              <a:buFont typeface="Arial" pitchFamily="34" charset="0"/>
              <a:buChar char="●"/>
            </a:pPr>
            <a:r>
              <a:rPr lang="en-US" sz="2328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Optimize:</a:t>
            </a:r>
            <a:r>
              <a:rPr lang="en-US" sz="2328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solve for the knob settings at fixed width and resonance, then validate with one run.</a:t>
            </a:r>
            <a:endParaRPr lang="en-US" sz="2328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79481" y="6629401"/>
            <a:ext cx="9144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270">
                <a:solidFill>
                  <a:srgbClr val="000000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r>
              <a:rPr lang="en-US" dirty="0"/>
              <a:t> / 17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Radiation Cancellation</dc:title>
  <dc:subject>PptxGenJS Presentation</dc:subject>
  <dc:creator>Evyatar Rubin</dc:creator>
  <cp:lastModifiedBy>Evyatar Rubin</cp:lastModifiedBy>
  <cp:revision>1</cp:revision>
  <dcterms:created xsi:type="dcterms:W3CDTF">2026-10-11T21:22:20Z</dcterms:created>
  <dcterms:modified xsi:type="dcterms:W3CDTF">2026-10-11T21:22:20Z</dcterms:modified>
</cp:coreProperties>
</file>