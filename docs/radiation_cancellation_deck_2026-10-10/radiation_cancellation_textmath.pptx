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far-field amplitude in direction r-hat; Delta-epsilon = epsilon - n_ox^2; E: cavity field at resonance; k: wavenumber in oxide. X_lm: vector spherical harmonic (Jackson ch. 9). alpha_lm: magnetic coefficient, beta_lm: electric coefficient. Equivalently alpha_lm = 4 pi (-i)^l Int Delta-epsilon j_l(kr) X*_lm . E d^3r, the source form used to see how a local change moves a harmonic.
Equation (LaTeX source): \mathbf{A}(\hat{\mathbf{r}}) = (\mathrm{I}-\hat{\mathbf{r}}\hat{\mathbf{r}})\int \Delta\varepsilon\,\mathbf{E}\,e^{-ik\hat{\mathbf{r}} {\cdot} \mathbf{r}}\,d^3r
Equation (LaTeX source): \alpha_{lm}=\oint \mathbf{X}^*_{lm} {\cdot} \mathbf{A}\,d\Omega=4\pi(-i)^l\int\Delta\varepsilon \, j_l(kr) \, \mathbf{X}^*_{lm} {\cdot} \mathbf{E} \, d^3r
Equation (LaTeX source): \beta_{lm}=\oint (\hat{\mathbf{r}}\times\mathbf{X}_{lm})^* {\cdot} \mathbf{A}\,d\Omega=\frac{4\pi i(-i)^l}{k}\int\Delta\varepsilon \, \mathbf{E} {\cdot} \nabla\times\left[j_l(kr)\,\mathbf{X}^*_{lm}\right]d^3r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c: list of all alpha_lm and beta_lm of the cavity leak, normalized per unit stored energy, so ||c||^2 is proportional to 1/Q_rad (a feature that only lowers the coupling then cannot look like cancellation). b: change of all coefficients per unit knob strength q; it contains the feature's own radiation, the change of the cavity field and the resonance shift, so it is measured (two runs, +h and -h). Validity: the feature holds a small part of the mode energy.
Equation (LaTeX source): c(q)=c+q\,b,\qquad P(q)\propto\left|c+q\,b\right|^2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eta^2 is computed from a knob's measured response b and the measured leak c. No knob has been measured yet; the Part II tables assume ideal knobs, whose eta^2 equals the share of the harmonics they cancel.
Equation (LaTeX source): P(q)\propto\left|c\right|^2+2q\,\mathrm{Re}\langle b,c\rangle+q^2\left|b\right|^2
Equation (LaTeX source): \text{2. Lowest loss where the slope is zero: }\frac{dP}{dq}=0\;\Rightarrow\;q_{*}=-\frac{\mathrm{Re}\langle b,c\rangle}{\left|b\right|^2}
Equation (LaTeX source): \frac{P(q_{*})}{P_c}=1-\eta^2,\qquad \eta^2=\frac{(\mathrm{Re}\langle b,c\rangle)^2}{\left|b\right|^2\left|c\right|^2}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93548" y="1283970"/>
            <a:ext cx="11804905" cy="1425702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193548" y="1341120"/>
            <a:ext cx="118049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93548" y="208026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subtitle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3548" y="3162300"/>
            <a:ext cx="118049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Author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93548" y="464820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457200" y="2286000"/>
            <a:ext cx="112776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Section heading</a:t>
            </a:r>
            <a:endParaRPr lang="en-US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57200" y="3352800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3140"/>
              </a:lnSpc>
              <a:buNone/>
              <a:defRPr sz="254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Subheading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324601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324601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324601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457200" y="5829301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Note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676656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7449313" y="1348740"/>
            <a:ext cx="4285488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6324601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Stack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457200" y="336042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1" hdr="0" ftr="0" dt="0"/>
  <p:txStyles>
    <p:titleStyle>
      <a:lvl1pPr algn="l" defTabSz="914400" rtl="0" eaLnBrk="1" latinLnBrk="0" hangingPunct="1"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3964" indent="-228600" algn="l" defTabSz="914400" rtl="0" eaLnBrk="1" latinLnBrk="0" hangingPunct="1">
        <a:spcBef>
          <a:spcPct val="20000"/>
        </a:spcBef>
        <a:buClr>
          <a:srgbClr val="3333B3"/>
        </a:buClr>
        <a:buSzPct val="80000"/>
        <a:buFont typeface="Arial" pitchFamily="34" charset="0"/>
        <a:buChar char="●"/>
        <a:defRPr sz="2328" kern="1200">
          <a:solidFill>
            <a:schemeClr val="tx1"/>
          </a:solidFill>
          <a:latin typeface="+mn-lt"/>
          <a:ea typeface="+mn-ea"/>
          <a:cs typeface="+mn-cs"/>
        </a:defRPr>
      </a:lvl1pPr>
      <a:lvl2pPr marL="893064" indent="-213360" algn="l" defTabSz="914400" rtl="0" eaLnBrk="1" latinLnBrk="0" hangingPunct="1">
        <a:spcBef>
          <a:spcPct val="20000"/>
        </a:spcBef>
        <a:buClr>
          <a:srgbClr val="3333B3"/>
        </a:buClr>
        <a:buSzPct val="70000"/>
        <a:buFont typeface="Arial" pitchFamily="34" charset="0"/>
        <a:buChar char="▸"/>
        <a:defRPr sz="2328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48" y="1283970"/>
            <a:ext cx="11804905" cy="1425702"/>
          </a:xfrm>
          <a:prstGeom prst="roundRect">
            <a:avLst>
              <a:gd name="adj" fmla="val 7483"/>
            </a:avLst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  <a:effectLst>
            <a:outerShdw sx="100000" sy="100000" kx="0" ky="0" algn="bl" rotWithShape="0" blurRad="50800" dist="30480" dir="5400000">
              <a:srgbClr val="000000">
                <a:alpha val="45000"/>
              </a:srgbClr>
            </a:outerShdw>
          </a:effectLst>
        </p:spPr>
      </p:sp>
      <p:sp>
        <p:nvSpPr>
          <p:cNvPr id="3" name="Text 7"/>
          <p:cNvSpPr txBox="1"/>
          <p:nvPr>
            <p:ph idx="107" type="title" hasCustomPrompt="1"/>
          </p:nvPr>
        </p:nvSpPr>
        <p:spPr>
          <a:xfrm>
            <a:off x="193548" y="1479595"/>
            <a:ext cx="11804905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3048" dirty="0"/>
          </a:p>
        </p:txBody>
      </p:sp>
      <p:sp>
        <p:nvSpPr>
          <p:cNvPr id="4" name="Text 7"/>
          <p:cNvSpPr txBox="1"/>
          <p:nvPr>
            <p:ph idx="108" type="body" hasCustomPrompt="1"/>
          </p:nvPr>
        </p:nvSpPr>
        <p:spPr>
          <a:xfrm>
            <a:off x="193548" y="2048432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multipole model of the leak from 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𝜋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cavities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09" type="body" hasCustomPrompt="1"/>
          </p:nvPr>
        </p:nvSpPr>
        <p:spPr>
          <a:xfrm>
            <a:off x="193548" y="3192194"/>
            <a:ext cx="11804905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2328" dirty="0"/>
          </a:p>
          <a:p>
            <a:pPr algn="ctr" indent="0" marL="0">
              <a:lnSpc>
                <a:spcPts val="2879"/>
              </a:lnSpc>
              <a:buNone/>
            </a:pPr>
            <a:r>
              <a:rPr lang="en-US" sz="2328" i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Update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0" type="body" hasCustomPrompt="1"/>
          </p:nvPr>
        </p:nvSpPr>
        <p:spPr>
          <a:xfrm>
            <a:off x="193548" y="4699419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Main conclusions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leak splits into electric and magnetic harmonics.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small geometry change shifts each harmonic linearly, so several knobs are set by one linear solve.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plain TE leak is mostly beyond the dipole.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Dipoles carry 14</a:t>
            </a:r>
            <a:r>
              <a:rPr lang="en-US" sz="2117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 of it; 95</a:t>
            </a:r>
            <a:r>
              <a:rPr lang="en-US" sz="2117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 lies in the first five orders.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TE: ten cancelled harmonics could raise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-3 dB from 12</a:t>
            </a:r>
            <a:r>
              <a:rPr lang="en-US" sz="2328" b="1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900 to about 10</a:t>
            </a:r>
            <a:r>
              <a:rPr lang="en-US" sz="2328" baseline="30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5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Overshoot (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</a:t>
            </a:r>
            <a:r>
              <a:rPr lang="en-US" sz="2328" b="1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≈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2 × 10</a:t>
            </a:r>
            <a:r>
              <a:rPr lang="en-US" sz="2328" baseline="30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5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): twenty harmonics would add about 20</a:t>
            </a:r>
            <a:r>
              <a:rPr lang="en-US" sz="2328" b="1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is only part of its loss; removing all of it gives ×1.4 to ×1.9.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Part I: The model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How a geometry change alters the radiated leak.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Johnson et al. cancelled one dominant harmonic with one knob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54864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Johnson et al., APL 2001</a:t>
            </a:r>
            <a:endParaRPr lang="en-US" sz="2328" dirty="0"/>
          </a:p>
        </p:txBody>
      </p:sp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1879257"/>
            <a:ext cx="5486401" cy="1837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One knob swept until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peaks.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One harmonic carries almost all the loss.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Cancellation confirmed afterwards.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10" type="body" hasCustomPrompt="1"/>
          </p:nvPr>
        </p:nvSpPr>
        <p:spPr>
          <a:xfrm>
            <a:off x="6248401" y="1248332"/>
            <a:ext cx="54864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This cavity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1" type="body" hasCustomPrompt="1"/>
          </p:nvPr>
        </p:nvSpPr>
        <p:spPr>
          <a:xfrm>
            <a:off x="6248401" y="1879257"/>
            <a:ext cx="5486401" cy="220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loss is spread over several harmonics.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model predicts what each knob can remove.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Several knobs are set together.</a:t>
            </a:r>
            <a:endParaRPr lang="en-US" sz="2328" dirty="0"/>
          </a:p>
        </p:txBody>
      </p:sp>
      <p:sp>
        <p:nvSpPr>
          <p:cNvPr id="7" name="Text 7"/>
          <p:cNvSpPr txBox="1"/>
          <p:nvPr>
            <p:ph idx="112" type="body" hasCustomPrompt="1"/>
          </p:nvPr>
        </p:nvSpPr>
        <p:spPr>
          <a:xfrm>
            <a:off x="457200" y="564686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Johnson's 2D example has one field component,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E</a:t>
            </a:r>
            <a:r>
              <a:rPr lang="en-US" sz="1905" i="1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z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so each order has one coefficient. Our 3D field has two polarizations, so each </a:t>
            </a:r>
            <a:r>
              <a:rPr lang="en-US" sz="1905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(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l</a:t>
            </a:r>
            <a:r>
              <a:rPr lang="en-US" sz="1905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,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m</a:t>
            </a:r>
            <a:r>
              <a:rPr lang="en-US" sz="1905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)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has two.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leak is a sum of electric and magnetic harmonics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67326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Far field.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Everything that differs from the oxide radiates:</a:t>
            </a:r>
            <a:endParaRPr lang="en-US" sz="2328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397"/>
            <a:ext cx="11277601" cy="82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ns0:rPr xmlns:ns0="http://schemas.openxmlformats.org/drawingml/2006/main" lang="en-US" sz="2328">
                      <ns0:latin typeface="Cambria Math"/>
                    </ns0:rPr>
                    <m:t>𝐀(</m:t>
                  </m:r>
                  <m:acc>
                    <m:accPr>
                      <m:chr m:val="̂"/>
                    </m:accPr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𝐫</m:t>
                      </m:r>
                    </m:e>
                  </m:acc>
                  <m:r>
                    <ns0:rPr xmlns:ns0="http://schemas.openxmlformats.org/drawingml/2006/main" lang="en-US" sz="2328">
                      <ns0:latin typeface="Cambria Math"/>
                    </ns0:rPr>
                    <m:t>)=(I−</m:t>
                  </m:r>
                  <m:acc>
                    <m:accPr>
                      <m:chr m:val="̂"/>
                    </m:accPr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𝐫</m:t>
                      </m:r>
                    </m:e>
                  </m:acc>
                  <m:acc>
                    <m:accPr>
                      <m:chr m:val="̂"/>
                    </m:accPr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𝐫</m:t>
                      </m:r>
                    </m:e>
                  </m:acc>
                  <m:r>
                    <ns0:rPr xmlns:ns0="http://schemas.openxmlformats.org/drawingml/2006/main" lang="en-US" sz="2328">
                      <ns0:latin typeface="Cambria Math"/>
                    </ns0:rPr>
                    <m:t>)∫Δε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𝐄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e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−ik</m:t>
                      </m:r>
                      <m:acc>
                        <m:accPr>
                          <m:chr m:val="̂"/>
                        </m:acc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𝐫</m:t>
                          </m:r>
                        </m:e>
                      </m:acc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·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𝐫</m:t>
                      </m:r>
                    </m:sup>
                  </m:sSup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3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r</m:t>
                  </m:r>
                </m:oMath>
              </m:oMathPara>
            </a14:m>
            <a:endParaRPr lang="en-US" sz="2328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9193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Harmonics.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same coefficients from the far field, or from the source:</a:t>
            </a:r>
            <a:endParaRPr lang="en-US" sz="2328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46264"/>
            <a:ext cx="11277601" cy="82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α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=∮</m:t>
                  </m:r>
                  <m:sSub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𝐗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p>
                  </m:sSubSup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𝐀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dΩ=4π(−i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∫Δε</m:t>
                  </m:r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j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(kr)</m:t>
                  </m:r>
                  <m:sSub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𝐗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p>
                  </m:sSubSup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𝐄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3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r</m:t>
                  </m:r>
                </m:oMath>
              </m:oMathPara>
            </a14:m>
            <a:endParaRPr lang="en-US" sz="2328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5269"/>
            <a:ext cx="11277601" cy="87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β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=∮(</m:t>
                  </m:r>
                  <m:acc>
                    <m:accPr>
                      <m:chr m:val="̂"/>
                    </m:accPr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𝐫</m:t>
                      </m:r>
                    </m:e>
                  </m:acc>
                  <m:r>
                    <ns0:rPr xmlns:ns0="http://schemas.openxmlformats.org/drawingml/2006/main" lang="en-US" sz="2328">
                      <ns0:latin typeface="Cambria Math"/>
                    </ns0:rPr>
                    <m:t>×</m:t>
                  </m:r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𝐗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</m:sSub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𝐀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dΩ=</m:t>
                  </m:r>
                  <m:f>
                    <m:fPr>
                      <m:type m:val="bar"/>
                    </m:fPr>
                    <m:num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4πi(−i</m:t>
                      </m:r>
                      <m:sSup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)</m:t>
                          </m:r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l</m:t>
                          </m:r>
                        </m:sup>
                      </m:sSup>
                    </m:num>
                    <m:den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k</m:t>
                      </m:r>
                    </m:den>
                  </m:f>
                  <m:r>
                    <ns0:rPr xmlns:ns0="http://schemas.openxmlformats.org/drawingml/2006/main" lang="en-US" sz="2328">
                      <ns0:latin typeface="Cambria Math"/>
                    </ns0:rPr>
                    <m:t>∫Δε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𝐄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∇×</m:t>
                  </m:r>
                  <m:d>
                    <m:dPr>
                      <m:begChr m:val="["/>
                      <m:sepChr m:val=""/>
                      <m:endChr m:val="]"/>
                    </m:dPr>
                    <m:e>
                      <m:sSub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j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l</m:t>
                          </m:r>
                        </m:sub>
                      </m:s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(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k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r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  <m:sSubSup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𝐗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lm</m:t>
                          </m:r>
                        </m:sub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*</m:t>
                          </m:r>
                        </m:sup>
                      </m:sSubSup>
                    </m:e>
                  </m:d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3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r</m:t>
                  </m:r>
                </m:oMath>
              </m:oMathPara>
            </a14:m>
            <a:endParaRPr lang="en-US" sz="2328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414505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b="1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X</a:t>
            </a:r>
            <a:r>
              <a:rPr lang="en-US" sz="1905" i="1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lm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: vector spherical harmonic, the angular pattern of order (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l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m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);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j</a:t>
            </a:r>
            <a:r>
              <a:rPr lang="en-US" sz="1905" i="1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l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: spherical Bessel function. 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𝛼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magnetic, 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𝛽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electric.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feature adds its own coefficients to those of the leak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2623214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Leak: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its coefficients </a:t>
            </a:r>
            <a:r>
              <a:rPr lang="en-US" sz="2328" b="1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c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(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𝛼</a:t>
            </a:r>
            <a:r>
              <a:rPr lang="en-US" sz="2328" i="1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lm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𝛽</a:t>
            </a:r>
            <a:r>
              <a:rPr lang="en-US" sz="2328" i="1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lm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), per unit stored energy.</a:t>
            </a:r>
            <a:endParaRPr lang="en-US" sz="2328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1739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Feature: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strength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(for example a tooth width); adds </a:t>
            </a:r>
            <a:r>
              <a:rPr lang="en-US" sz="2328" b="1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b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per unit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measured.</a:t>
            </a:r>
            <a:endParaRPr lang="en-US" sz="2328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08810"/>
            <a:ext cx="11277601" cy="516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ns0:rPr xmlns:ns0="http://schemas.openxmlformats.org/drawingml/2006/main" lang="en-US" sz="2328">
                      <ns0:latin typeface="Cambria Math"/>
                    </ns0:rPr>
                    <m:t>c(q)=c+q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b,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P(q)∝</m:t>
                  </m:r>
                  <m:sSup>
                    <m:e>
                      <m:d>
                        <m:dPr>
                          <m:begChr m:val="|"/>
                          <m:sepChr m:val="+"/>
                          <m:endChr m:val="|"/>
                        </m:d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c</m:t>
                          </m:r>
                        </m:e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b</m:t>
                          </m:r>
                        </m:e>
                      </m:d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</m:oMath>
              </m:oMathPara>
            </a14:m>
            <a:endParaRPr lang="en-US" sz="2328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22842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Linear while the feature is small: runs at 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± 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h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give equal and opposite changes.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One knob: the best strength follows from </a:t>
            </a: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dP</a:t>
            </a:r>
            <a:r>
              <a:rPr lang="en-US" sz="304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/</a:t>
            </a: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dq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0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534922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1. Expand.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write out the square:</a:t>
            </a:r>
            <a:endParaRPr lang="en-US" sz="2328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1993"/>
            <a:ext cx="11277601" cy="516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ns0:rPr xmlns:ns0="http://schemas.openxmlformats.org/drawingml/2006/main" lang="en-US" sz="2328">
                      <ns0:latin typeface="Cambria Math"/>
                    </ns0:rPr>
                    <m:t>P(q)∝</m:t>
                  </m:r>
                  <m:sSup>
                    <m:e>
                      <m:d>
                        <m:dPr>
                          <m:begChr m:val="|"/>
                          <m:sepChr m:val=""/>
                          <m:endChr m:val="|"/>
                        </m:d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c</m:t>
                          </m:r>
                        </m:e>
                      </m:d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+2q</m:t>
                  </m:r>
                  <m:r>
                    <m:rPr>
                      <m:sty m:val="p"/>
                    </m:rPr>
                    <ns0:rPr xmlns:ns0="http://schemas.openxmlformats.org/drawingml/2006/main" lang="en-US" sz="2328">
                      <ns0:latin typeface="Cambria Math"/>
                    </ns0:rPr>
                    <m:t>Re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⟨b,c⟩+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q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sSup>
                    <m:e>
                      <m:d>
                        <m:dPr>
                          <m:begChr m:val="|"/>
                          <m:sepChr m:val=""/>
                          <m:endChr m:val="|"/>
                        </m:d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b</m:t>
                          </m:r>
                        </m:e>
                      </m:d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</m:oMath>
              </m:oMathPara>
            </a14:m>
            <a:endParaRPr lang="en-US" sz="2328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27772"/>
            <a:ext cx="11277601" cy="89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m:rPr>
                      <m:sty m:val="p"/>
                    </m:rPr>
                    <ns0:rPr xmlns:ns0="http://schemas.openxmlformats.org/drawingml/2006/main" lang="en-US" sz="2328">
                      <ns0:latin typeface="Cambria Math"/>
                    </ns0:rPr>
                    <m:t>2. Lowest loss where the slope is zero: </m:t>
                  </m:r>
                  <m:f>
                    <m:fPr>
                      <m:type m:val="bar"/>
                    </m:fPr>
                    <m:num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dP</m:t>
                      </m:r>
                    </m:num>
                    <m:den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dq</m:t>
                      </m:r>
                    </m:den>
                  </m:f>
                  <m:r>
                    <ns0:rPr xmlns:ns0="http://schemas.openxmlformats.org/drawingml/2006/main" lang="en-US" sz="2328">
                      <ns0:latin typeface="Cambria Math"/>
                    </ns0:rPr>
                    <m:t>=0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⇒</m:t>
                  </m:r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q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=−</m:t>
                  </m:r>
                  <m:f>
                    <m:fPr>
                      <m:type m:val="bar"/>
                    </m:fPr>
                    <m:num>
                      <m:r>
                        <m:rPr>
                          <m:sty m:val="p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Re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⟨b,c⟩</m:t>
                      </m:r>
                    </m:num>
                    <m:den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</m:dPr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b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lang="en-US" sz="2328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69988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3. Insert.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put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*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back:</a:t>
            </a:r>
            <a:endParaRPr lang="en-US" sz="2328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77059"/>
            <a:ext cx="11277601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f>
                    <m:fPr>
                      <m:type m:val="bar"/>
                    </m:fPr>
                    <m:num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P(</m:t>
                      </m:r>
                      <m:sSub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*</m:t>
                          </m:r>
                        </m:sub>
                      </m:s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</m:num>
                    <m:den>
                      <m:sSub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P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c</m:t>
                          </m:r>
                        </m:sub>
                      </m:sSub>
                    </m:den>
                  </m:f>
                  <m:r>
                    <ns0:rPr xmlns:ns0="http://schemas.openxmlformats.org/drawingml/2006/main" lang="en-US" sz="2328">
                      <ns0:latin typeface="Cambria Math"/>
                    </ns0:rPr>
                    <m:t>=1−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η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,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η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=</m:t>
                  </m:r>
                  <m:f>
                    <m:fPr>
                      <m:type m:val="bar"/>
                    </m:fPr>
                    <m:num>
                      <m:sSup>
                        <m:e>
                          <m:d>
                            <m:dPr>
                              <m:sepChr m:val=""/>
                            </m:dPr>
                            <m:e>
                              <m:r>
                                <m:rPr>
                                  <m:sty m:val="p"/>
                                </m:rP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Re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⟨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b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,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c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⟩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</m:num>
                    <m:den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</m:dPr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b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</m:dPr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c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lang="en-US" sz="2328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511134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𝜂</a:t>
            </a:r>
            <a:r>
              <a:rPr lang="en-US" sz="1905" baseline="30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2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: the fraction of the leak this knob can remove. Set too strong, at </a:t>
            </a:r>
            <a:r>
              <a:rPr lang="en-US" sz="1905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2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1905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*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loss is back at its original value.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Several knobs: one linear problem</a:t>
            </a:r>
            <a:endParaRPr lang="en-US" sz="3048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2822743"/>
        </p:xfrm>
        <a:graphic>
          <a:graphicData uri="http://schemas.openxmlformats.org/drawingml/2006/table">
            <a:tbl>
              <a:tblPr/>
              <a:tblGrid>
                <a:gridCol w="4511040"/>
                <a:gridCol w="6766561"/>
              </a:tblGrid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unknowns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= (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328" baseline="-25000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1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, …, 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328" i="1" baseline="-25000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n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)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zero the targets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c</a:t>
                      </a:r>
                      <a:r>
                        <a:rPr lang="en-US" sz="2328" i="1" baseline="-25000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S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+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B</a:t>
                      </a:r>
                      <a:r>
                        <a:rPr lang="en-US" sz="2328" i="1" baseline="-25000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S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= 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hold the width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w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· 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= 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hold the resonance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v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· 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= 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solution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M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 =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−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r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, so 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 =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−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M</a:t>
                      </a:r>
                      <a:r>
                        <a:rPr lang="en-US" sz="2328" baseline="30000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baseline="30000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+</a:t>
                      </a:r>
                      <a:r>
                        <a:rPr lang="en-US" sz="2328" baseline="30000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r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23462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K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target harmonics;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B</a:t>
            </a:r>
            <a:r>
              <a:rPr lang="en-US" sz="1905" i="1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S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</a:t>
            </a:r>
            <a:r>
              <a:rPr lang="en-US" sz="1905" b="1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w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</a:t>
            </a:r>
            <a:r>
              <a:rPr lang="en-US" sz="1905" b="1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v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: their response, two runs per knob. Exact with </a:t>
            </a:r>
            <a:r>
              <a:rPr lang="en-US" sz="1905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2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K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+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2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knobs, least squares with fewer.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Part II: Can it be done?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Measured harmonic content, and what ideal knobs would gain.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Each device leaks in a different angular pattern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farfield_map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2854462" y="1348740"/>
            <a:ext cx="6483076" cy="4187221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68794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Radiated power per solid angle at resonance, dB relative to the peak;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u</a:t>
            </a:r>
            <a:r>
              <a:rPr lang="en-US" sz="1905" i="1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x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runs along the waveguide. Computed from </a:t>
            </a:r>
            <a:r>
              <a:rPr lang="en-US" sz="1905" b="1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E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and </a:t>
            </a:r>
            <a:r>
              <a:rPr lang="en-US" sz="1905" b="1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H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on a closed surface around the cavity, projected to the far field.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TE: the leak sits in low order harmonics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channels_te_plain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1577062" y="1348740"/>
            <a:ext cx="9037878" cy="405637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55709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Share of the radiated power per harmonic; +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m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and -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m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are equal (mirror symmetry in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y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), so each cell is their sum.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98,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T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0.912, mode 19.1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Overshoot apodization: the leak is spread over many orders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channels_te_overshoot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1526654" y="1348740"/>
            <a:ext cx="9138694" cy="405637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557090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98,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T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0.973, mode 19.6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m. Dipoles hold 6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%; half of the power is above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l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12.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TM at the same mode width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channels_tm_plain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1526654" y="1348740"/>
            <a:ext cx="9138694" cy="405637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55709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Corrugation 325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nm,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98,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T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0.915, mode 19.2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m. Dipoles hold 11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%; 74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 is in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l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 ≤ </a:t>
            </a:r>
            <a:r>
              <a:rPr lang="en-US" sz="1905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5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with a tail along the waveguide axis.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TE: cancelling ten harmonics could raise </a:t>
            </a: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up to ×9</a:t>
            </a:r>
            <a:endParaRPr lang="en-US" sz="3048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3387291"/>
        </p:xfrm>
        <a:graphic>
          <a:graphicData uri="http://schemas.openxmlformats.org/drawingml/2006/table">
            <a:tbl>
              <a:tblPr/>
              <a:tblGrid>
                <a:gridCol w="3496056"/>
                <a:gridCol w="1240536"/>
                <a:gridCol w="2481072"/>
                <a:gridCol w="4059936"/>
              </a:tblGrid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harmonics cancelled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knobs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radiation loss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estimated 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at -3 dB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none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7.3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12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900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largest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𝛽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5.9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16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largest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𝛽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and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𝛼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6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4.9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5 largest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12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2.3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41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10 largest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22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0.8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113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88011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Estimated for ideal knobs (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𝜂</a:t>
            </a:r>
            <a:r>
              <a:rPr lang="en-US" sz="1905" baseline="30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2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equal to the cancelled share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f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):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-3 dB = 12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900/(1 -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f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). Example, 5 largest: 12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900/0.31 = 41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000.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Overshoot: cancellation reaches only part of its loss</a:t>
            </a:r>
            <a:endParaRPr lang="en-US" sz="3048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3387291"/>
        </p:xfrm>
        <a:graphic>
          <a:graphicData uri="http://schemas.openxmlformats.org/drawingml/2006/table">
            <a:tbl>
              <a:tblPr/>
              <a:tblGrid>
                <a:gridCol w="3496056"/>
                <a:gridCol w="1240536"/>
                <a:gridCol w="2481072"/>
                <a:gridCol w="4059936"/>
              </a:tblGrid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harmonics cancelled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knobs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radiation loss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estimated 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at -3 dB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none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0.69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198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largest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𝛼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0.65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201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5 largest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12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0.56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210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10 largest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22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0.48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218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20 largest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42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0.37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230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88011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Estimated for ideal knobs. Radiation (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1905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rad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2.2 × 10</a:t>
            </a:r>
            <a:r>
              <a:rPr lang="en-US" sz="1905" baseline="30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6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 is a third of the internal loss, so 1/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1905" i="1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i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(1 -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f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)/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1905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rad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+ 1/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1905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other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Conclusions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Model: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harmonics, the linear effect of a feature, one linear solve for all knobs.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TE: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 compact leak; about ten harmonics would have to cancel for a large gain.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Overshoot: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 spread leak, and radiation is only part of its loss: tens of percent.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Open question: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does radiation dominate the overshoot's loss? That sets how far cancellation can go.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Next steps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Decide: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measure the overshoot's own loss budget and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-3 dB at a fixed simulation time; continue only if radiation dominates.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Choose the perturbation: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geometry change near the junction that reaches the largest harmonics, with its response measured.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Optimize: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solve for the knob settings at fixed width and resonance, then validate with one run.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in Moder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in Moder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Radiation Cancellation</dc:title>
  <dc:subject>PptxGenJS Presentation</dc:subject>
  <dc:creator>Evyatar Rubin</dc:creator>
  <cp:lastModifiedBy>Evyatar Rubin</cp:lastModifiedBy>
  <cp:revision>1</cp:revision>
  <dcterms:created xsi:type="dcterms:W3CDTF">2026-10-11T21:35:23Z</dcterms:created>
  <dcterms:modified xsi:type="dcterms:W3CDTF">2026-10-11T21:35:23Z</dcterms:modified>
</cp:coreProperties>
</file>